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46" d="100"/>
          <a:sy n="146" d="100"/>
        </p:scale>
        <p:origin x="594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490110"/>
            <a:ext cx="6250305" cy="42471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4725" y="1216355"/>
            <a:ext cx="5003800" cy="31070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2304" y="1872685"/>
            <a:ext cx="70104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20" dirty="0">
                <a:latin typeface="Arial"/>
                <a:cs typeface="Arial"/>
              </a:rPr>
              <a:t>Rethinking</a:t>
            </a:r>
            <a:r>
              <a:rPr sz="3000" b="1" spc="-155" dirty="0">
                <a:latin typeface="Arial"/>
                <a:cs typeface="Arial"/>
              </a:rPr>
              <a:t> </a:t>
            </a:r>
            <a:r>
              <a:rPr sz="3000" b="1" dirty="0">
                <a:latin typeface="Arial"/>
                <a:cs typeface="Arial"/>
              </a:rPr>
              <a:t>AIG</a:t>
            </a:r>
            <a:r>
              <a:rPr sz="3000" b="1" spc="-40" dirty="0">
                <a:latin typeface="Arial"/>
                <a:cs typeface="Arial"/>
              </a:rPr>
              <a:t> </a:t>
            </a:r>
            <a:r>
              <a:rPr sz="3000" b="1" dirty="0">
                <a:latin typeface="Arial"/>
                <a:cs typeface="Arial"/>
              </a:rPr>
              <a:t>Resynthesis</a:t>
            </a:r>
            <a:r>
              <a:rPr sz="3000" b="1" spc="-45" dirty="0">
                <a:latin typeface="Arial"/>
                <a:cs typeface="Arial"/>
              </a:rPr>
              <a:t> </a:t>
            </a:r>
            <a:r>
              <a:rPr sz="3000" b="1" dirty="0">
                <a:latin typeface="Arial"/>
                <a:cs typeface="Arial"/>
              </a:rPr>
              <a:t>in</a:t>
            </a:r>
            <a:r>
              <a:rPr sz="3000" b="1" spc="-45" dirty="0">
                <a:latin typeface="Arial"/>
                <a:cs typeface="Arial"/>
              </a:rPr>
              <a:t> </a:t>
            </a:r>
            <a:r>
              <a:rPr sz="3000" b="1" spc="-10" dirty="0">
                <a:latin typeface="Arial"/>
                <a:cs typeface="Arial"/>
              </a:rPr>
              <a:t>Parallel</a:t>
            </a:r>
            <a:endParaRPr sz="3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22924" y="2693477"/>
            <a:ext cx="2475230" cy="828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860" algn="ctr">
              <a:lnSpc>
                <a:spcPct val="100000"/>
              </a:lnSpc>
              <a:spcBef>
                <a:spcPts val="100"/>
              </a:spcBef>
            </a:pPr>
            <a:r>
              <a:rPr sz="2150" b="1" dirty="0">
                <a:latin typeface="Arial"/>
                <a:cs typeface="Arial"/>
              </a:rPr>
              <a:t>DAC</a:t>
            </a:r>
            <a:r>
              <a:rPr sz="2150" b="1" spc="-15" dirty="0">
                <a:latin typeface="Arial"/>
                <a:cs typeface="Arial"/>
              </a:rPr>
              <a:t> </a:t>
            </a:r>
            <a:r>
              <a:rPr sz="2150" b="1" spc="-20" dirty="0">
                <a:latin typeface="Arial"/>
                <a:cs typeface="Arial"/>
              </a:rPr>
              <a:t>2023</a:t>
            </a:r>
            <a:endParaRPr sz="215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400"/>
              </a:spcBef>
            </a:pPr>
            <a:r>
              <a:rPr sz="1950" b="1" spc="-10" dirty="0">
                <a:latin typeface="Arial"/>
                <a:cs typeface="Arial"/>
              </a:rPr>
              <a:t>Presented</a:t>
            </a:r>
            <a:r>
              <a:rPr sz="1950" b="1" spc="-30" dirty="0">
                <a:latin typeface="Arial"/>
                <a:cs typeface="Arial"/>
              </a:rPr>
              <a:t> </a:t>
            </a:r>
            <a:r>
              <a:rPr sz="1950" b="1" dirty="0">
                <a:latin typeface="Arial"/>
                <a:cs typeface="Arial"/>
              </a:rPr>
              <a:t>by:</a:t>
            </a:r>
            <a:r>
              <a:rPr sz="1950" b="1" spc="-5" dirty="0">
                <a:latin typeface="Arial"/>
                <a:cs typeface="Arial"/>
              </a:rPr>
              <a:t> </a:t>
            </a:r>
            <a:r>
              <a:rPr sz="1950" b="1" spc="-20" dirty="0">
                <a:latin typeface="MS PGothic"/>
                <a:cs typeface="MS PGothic"/>
              </a:rPr>
              <a:t>賈俊佑</a:t>
            </a:r>
            <a:endParaRPr sz="1950" b="1" dirty="0">
              <a:latin typeface="MS PGothic"/>
              <a:cs typeface="MS P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0" dirty="0"/>
              <a:t>Outline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067410"/>
            <a:ext cx="2887345" cy="2713990"/>
          </a:xfrm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40335" indent="-127635">
              <a:lnSpc>
                <a:spcPct val="100000"/>
              </a:lnSpc>
              <a:spcBef>
                <a:spcPts val="1200"/>
              </a:spcBef>
              <a:buChar char="•"/>
              <a:tabLst>
                <a:tab pos="140335" algn="l"/>
              </a:tabLst>
            </a:pPr>
            <a:r>
              <a:rPr sz="1600" spc="-10" dirty="0">
                <a:latin typeface="Arial MT"/>
                <a:cs typeface="Arial MT"/>
              </a:rPr>
              <a:t>Introduction</a:t>
            </a:r>
            <a:endParaRPr sz="1600" dirty="0">
              <a:latin typeface="Arial MT"/>
              <a:cs typeface="Arial MT"/>
            </a:endParaRPr>
          </a:p>
          <a:p>
            <a:pPr marL="140335" indent="-127635">
              <a:lnSpc>
                <a:spcPct val="100000"/>
              </a:lnSpc>
              <a:spcBef>
                <a:spcPts val="1105"/>
              </a:spcBef>
              <a:buChar char="•"/>
              <a:tabLst>
                <a:tab pos="140335" algn="l"/>
              </a:tabLst>
            </a:pPr>
            <a:r>
              <a:rPr sz="1600" spc="-10" dirty="0">
                <a:latin typeface="Arial MT"/>
                <a:cs typeface="Arial MT"/>
              </a:rPr>
              <a:t>Preliminaries</a:t>
            </a:r>
            <a:endParaRPr sz="1600" dirty="0">
              <a:latin typeface="Arial MT"/>
              <a:cs typeface="Arial MT"/>
            </a:endParaRPr>
          </a:p>
          <a:p>
            <a:pPr marL="140335" indent="-127635">
              <a:lnSpc>
                <a:spcPct val="100000"/>
              </a:lnSpc>
              <a:spcBef>
                <a:spcPts val="1105"/>
              </a:spcBef>
              <a:buChar char="•"/>
              <a:tabLst>
                <a:tab pos="140335" algn="l"/>
              </a:tabLst>
            </a:pPr>
            <a:r>
              <a:rPr sz="1600" spc="-10" dirty="0">
                <a:latin typeface="Arial MT"/>
                <a:cs typeface="Arial MT"/>
              </a:rPr>
              <a:t>Method</a:t>
            </a:r>
            <a:endParaRPr sz="1600" dirty="0">
              <a:latin typeface="Arial MT"/>
              <a:cs typeface="Arial MT"/>
            </a:endParaRPr>
          </a:p>
          <a:p>
            <a:pPr marL="593725" lvl="1" indent="-123825">
              <a:lnSpc>
                <a:spcPct val="100000"/>
              </a:lnSpc>
              <a:spcBef>
                <a:spcPts val="1105"/>
              </a:spcBef>
              <a:buChar char="-"/>
              <a:tabLst>
                <a:tab pos="593725" algn="l"/>
              </a:tabLst>
            </a:pPr>
            <a:r>
              <a:rPr sz="1600" spc="-10" dirty="0">
                <a:latin typeface="Arial MT"/>
                <a:cs typeface="Arial MT"/>
              </a:rPr>
              <a:t>GPU-</a:t>
            </a:r>
            <a:r>
              <a:rPr sz="1600" dirty="0">
                <a:latin typeface="Arial MT"/>
                <a:cs typeface="Arial MT"/>
              </a:rPr>
              <a:t>Parallel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Refactoring</a:t>
            </a:r>
            <a:endParaRPr sz="1600" dirty="0">
              <a:latin typeface="Arial MT"/>
              <a:cs typeface="Arial MT"/>
            </a:endParaRPr>
          </a:p>
          <a:p>
            <a:pPr marL="593725" lvl="1" indent="-123825">
              <a:lnSpc>
                <a:spcPct val="100000"/>
              </a:lnSpc>
              <a:spcBef>
                <a:spcPts val="1105"/>
              </a:spcBef>
              <a:buChar char="-"/>
              <a:tabLst>
                <a:tab pos="593725" algn="l"/>
              </a:tabLst>
            </a:pPr>
            <a:r>
              <a:rPr sz="1600" spc="-10" dirty="0">
                <a:latin typeface="Arial MT"/>
                <a:cs typeface="Arial MT"/>
              </a:rPr>
              <a:t>GPU-</a:t>
            </a:r>
            <a:r>
              <a:rPr sz="1600" dirty="0">
                <a:latin typeface="Arial MT"/>
                <a:cs typeface="Arial MT"/>
              </a:rPr>
              <a:t>Parallel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Balancing</a:t>
            </a:r>
            <a:endParaRPr sz="1600" dirty="0">
              <a:latin typeface="Arial MT"/>
              <a:cs typeface="Arial MT"/>
            </a:endParaRPr>
          </a:p>
          <a:p>
            <a:pPr marL="140335" indent="-127635">
              <a:lnSpc>
                <a:spcPct val="100000"/>
              </a:lnSpc>
              <a:spcBef>
                <a:spcPts val="1100"/>
              </a:spcBef>
              <a:buChar char="•"/>
              <a:tabLst>
                <a:tab pos="140335" algn="l"/>
              </a:tabLst>
            </a:pPr>
            <a:r>
              <a:rPr sz="1600" dirty="0">
                <a:latin typeface="Arial MT"/>
                <a:cs typeface="Arial MT"/>
              </a:rPr>
              <a:t>Experimental</a:t>
            </a:r>
            <a:r>
              <a:rPr sz="1600" spc="-6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Results</a:t>
            </a:r>
            <a:endParaRPr sz="1600" dirty="0">
              <a:latin typeface="Arial MT"/>
              <a:cs typeface="Arial MT"/>
            </a:endParaRPr>
          </a:p>
          <a:p>
            <a:pPr marL="140335" indent="-127635">
              <a:lnSpc>
                <a:spcPct val="100000"/>
              </a:lnSpc>
              <a:spcBef>
                <a:spcPts val="1105"/>
              </a:spcBef>
              <a:buChar char="•"/>
              <a:tabLst>
                <a:tab pos="140335" algn="l"/>
              </a:tabLst>
            </a:pPr>
            <a:r>
              <a:rPr sz="1600" spc="-10" dirty="0">
                <a:latin typeface="Arial MT"/>
                <a:cs typeface="Arial MT"/>
              </a:rPr>
              <a:t>Conclusion</a:t>
            </a:r>
            <a:endParaRPr sz="16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33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29950"/>
            <a:ext cx="6419850" cy="10064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2555" indent="-109855">
              <a:lnSpc>
                <a:spcPct val="100000"/>
              </a:lnSpc>
              <a:spcBef>
                <a:spcPts val="130"/>
              </a:spcBef>
              <a:buChar char="•"/>
              <a:tabLst>
                <a:tab pos="122555" algn="l"/>
              </a:tabLst>
            </a:pPr>
            <a:r>
              <a:rPr sz="1500" dirty="0">
                <a:latin typeface="Arial MT"/>
                <a:cs typeface="Arial MT"/>
              </a:rPr>
              <a:t>AIG</a:t>
            </a:r>
            <a:r>
              <a:rPr sz="1500" spc="2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is</a:t>
            </a:r>
            <a:r>
              <a:rPr sz="1500" spc="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widely</a:t>
            </a:r>
            <a:r>
              <a:rPr sz="1500" spc="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used</a:t>
            </a:r>
            <a:r>
              <a:rPr sz="1500" spc="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in</a:t>
            </a:r>
            <a:r>
              <a:rPr sz="1500" spc="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logic</a:t>
            </a:r>
            <a:r>
              <a:rPr sz="1500" spc="3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optimization</a:t>
            </a:r>
            <a:endParaRPr sz="1500" dirty="0">
              <a:latin typeface="Arial MT"/>
              <a:cs typeface="Arial MT"/>
            </a:endParaRPr>
          </a:p>
          <a:p>
            <a:pPr marL="122555" indent="-109855">
              <a:lnSpc>
                <a:spcPct val="100000"/>
              </a:lnSpc>
              <a:spcBef>
                <a:spcPts val="1145"/>
              </a:spcBef>
              <a:buChar char="•"/>
              <a:tabLst>
                <a:tab pos="122555" algn="l"/>
              </a:tabLst>
            </a:pPr>
            <a:r>
              <a:rPr sz="1500" dirty="0">
                <a:latin typeface="Arial MT"/>
                <a:cs typeface="Arial MT"/>
              </a:rPr>
              <a:t>AIG</a:t>
            </a:r>
            <a:r>
              <a:rPr sz="1500" spc="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resynthesis</a:t>
            </a:r>
            <a:r>
              <a:rPr sz="1500" spc="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combines</a:t>
            </a:r>
            <a:r>
              <a:rPr sz="1500" spc="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multiple</a:t>
            </a:r>
            <a:r>
              <a:rPr sz="1500" spc="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optimization</a:t>
            </a:r>
            <a:r>
              <a:rPr sz="1500" spc="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algorithms</a:t>
            </a:r>
            <a:r>
              <a:rPr sz="1500" spc="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in</a:t>
            </a:r>
            <a:r>
              <a:rPr sz="1500" spc="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</a:t>
            </a:r>
            <a:r>
              <a:rPr sz="1500" spc="4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sequence</a:t>
            </a:r>
            <a:endParaRPr sz="1500" dirty="0">
              <a:latin typeface="Arial MT"/>
              <a:cs typeface="Arial MT"/>
            </a:endParaRPr>
          </a:p>
          <a:p>
            <a:pPr marL="173990">
              <a:lnSpc>
                <a:spcPct val="100000"/>
              </a:lnSpc>
              <a:spcBef>
                <a:spcPts val="1140"/>
              </a:spcBef>
            </a:pPr>
            <a:r>
              <a:rPr sz="1500" dirty="0">
                <a:latin typeface="Arial MT"/>
                <a:cs typeface="Arial MT"/>
              </a:rPr>
              <a:t>-</a:t>
            </a:r>
            <a:r>
              <a:rPr sz="1500" spc="25" dirty="0">
                <a:latin typeface="Arial MT"/>
                <a:cs typeface="Arial MT"/>
              </a:rPr>
              <a:t> </a:t>
            </a:r>
            <a:r>
              <a:rPr sz="1500" b="1" dirty="0">
                <a:latin typeface="Arial"/>
                <a:cs typeface="Arial"/>
              </a:rPr>
              <a:t>resyn2</a:t>
            </a:r>
            <a:r>
              <a:rPr sz="1500" dirty="0">
                <a:latin typeface="Arial MT"/>
                <a:cs typeface="Arial MT"/>
              </a:rPr>
              <a:t>:</a:t>
            </a:r>
            <a:r>
              <a:rPr sz="1500" spc="2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b;</a:t>
            </a:r>
            <a:r>
              <a:rPr sz="1500" spc="2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rw;</a:t>
            </a:r>
            <a:r>
              <a:rPr sz="1500" spc="2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rf;</a:t>
            </a:r>
            <a:r>
              <a:rPr sz="1500" spc="2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b;</a:t>
            </a:r>
            <a:r>
              <a:rPr sz="1500" spc="2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rw;</a:t>
            </a:r>
            <a:r>
              <a:rPr sz="1500" spc="2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rwz;</a:t>
            </a:r>
            <a:r>
              <a:rPr sz="1500" spc="2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b;</a:t>
            </a:r>
            <a:r>
              <a:rPr sz="1500" spc="2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rfz;</a:t>
            </a:r>
            <a:r>
              <a:rPr sz="1500" spc="2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rwz;</a:t>
            </a:r>
            <a:r>
              <a:rPr sz="1500" spc="20" dirty="0">
                <a:latin typeface="Arial MT"/>
                <a:cs typeface="Arial MT"/>
              </a:rPr>
              <a:t> </a:t>
            </a:r>
            <a:r>
              <a:rPr sz="1500" spc="-50" dirty="0">
                <a:latin typeface="Arial MT"/>
                <a:cs typeface="Arial MT"/>
              </a:rPr>
              <a:t>b</a:t>
            </a:r>
            <a:endParaRPr sz="15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1925" y="2251690"/>
            <a:ext cx="1431925" cy="138049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0" indent="-120650">
              <a:lnSpc>
                <a:spcPct val="100000"/>
              </a:lnSpc>
              <a:spcBef>
                <a:spcPts val="130"/>
              </a:spcBef>
              <a:buChar char="•"/>
              <a:tabLst>
                <a:tab pos="133350" algn="l"/>
              </a:tabLst>
            </a:pPr>
            <a:r>
              <a:rPr sz="1500" dirty="0">
                <a:latin typeface="Arial MT"/>
                <a:cs typeface="Arial MT"/>
              </a:rPr>
              <a:t>b</a:t>
            </a:r>
            <a:r>
              <a:rPr sz="1500" spc="434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=</a:t>
            </a:r>
            <a:r>
              <a:rPr sz="1500" spc="1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balancing</a:t>
            </a:r>
            <a:endParaRPr sz="1500" dirty="0">
              <a:latin typeface="Arial MT"/>
              <a:cs typeface="Arial MT"/>
            </a:endParaRPr>
          </a:p>
          <a:p>
            <a:pPr marL="133350" indent="-120650">
              <a:lnSpc>
                <a:spcPct val="100000"/>
              </a:lnSpc>
              <a:spcBef>
                <a:spcPts val="1145"/>
              </a:spcBef>
              <a:buChar char="•"/>
              <a:tabLst>
                <a:tab pos="133350" algn="l"/>
              </a:tabLst>
            </a:pPr>
            <a:r>
              <a:rPr sz="1500" dirty="0">
                <a:latin typeface="Arial MT"/>
                <a:cs typeface="Arial MT"/>
              </a:rPr>
              <a:t>rw</a:t>
            </a:r>
            <a:r>
              <a:rPr sz="1500" spc="1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=</a:t>
            </a:r>
            <a:r>
              <a:rPr sz="1500" spc="2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rewriting</a:t>
            </a:r>
            <a:endParaRPr sz="1500" dirty="0">
              <a:latin typeface="Arial MT"/>
              <a:cs typeface="Arial MT"/>
            </a:endParaRPr>
          </a:p>
          <a:p>
            <a:pPr marL="160020" indent="-120650">
              <a:lnSpc>
                <a:spcPct val="100000"/>
              </a:lnSpc>
              <a:spcBef>
                <a:spcPts val="1140"/>
              </a:spcBef>
              <a:buChar char="•"/>
              <a:tabLst>
                <a:tab pos="160020" algn="l"/>
              </a:tabLst>
            </a:pPr>
            <a:r>
              <a:rPr sz="1500" dirty="0">
                <a:latin typeface="Arial MT"/>
                <a:cs typeface="Arial MT"/>
              </a:rPr>
              <a:t>rf</a:t>
            </a:r>
            <a:r>
              <a:rPr sz="1500" spc="2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=</a:t>
            </a:r>
            <a:r>
              <a:rPr sz="1500" spc="2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refactoring</a:t>
            </a:r>
            <a:endParaRPr sz="1500" dirty="0">
              <a:latin typeface="Arial MT"/>
              <a:cs typeface="Arial MT"/>
            </a:endParaRPr>
          </a:p>
          <a:p>
            <a:pPr marL="186690" indent="-120650">
              <a:lnSpc>
                <a:spcPct val="100000"/>
              </a:lnSpc>
              <a:spcBef>
                <a:spcPts val="1145"/>
              </a:spcBef>
              <a:buChar char="•"/>
              <a:tabLst>
                <a:tab pos="186690" algn="l"/>
              </a:tabLst>
            </a:pPr>
            <a:r>
              <a:rPr sz="1500" dirty="0">
                <a:latin typeface="Arial MT"/>
                <a:cs typeface="Arial MT"/>
              </a:rPr>
              <a:t>z</a:t>
            </a:r>
            <a:r>
              <a:rPr sz="1500" spc="4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=</a:t>
            </a:r>
            <a:r>
              <a:rPr sz="1500" spc="2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zero-</a:t>
            </a:r>
            <a:r>
              <a:rPr sz="1500" spc="-20" dirty="0">
                <a:latin typeface="Arial MT"/>
                <a:cs typeface="Arial MT"/>
              </a:rPr>
              <a:t>gain</a:t>
            </a:r>
            <a:endParaRPr sz="1500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46591" y="2251690"/>
            <a:ext cx="2816860" cy="138049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sz="1500" dirty="0">
                <a:latin typeface="Arial MT"/>
                <a:cs typeface="Arial MT"/>
              </a:rPr>
              <a:t>:</a:t>
            </a:r>
            <a:r>
              <a:rPr sz="1500" spc="2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reduce</a:t>
            </a:r>
            <a:r>
              <a:rPr sz="1500" spc="-6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AIG</a:t>
            </a:r>
            <a:r>
              <a:rPr sz="1500" spc="2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level</a:t>
            </a:r>
            <a:r>
              <a:rPr sz="1500" spc="2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/</a:t>
            </a:r>
            <a:r>
              <a:rPr sz="1500" spc="2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delay</a:t>
            </a:r>
            <a:endParaRPr sz="15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1500" dirty="0">
                <a:latin typeface="Arial MT"/>
                <a:cs typeface="Arial MT"/>
              </a:rPr>
              <a:t>:</a:t>
            </a:r>
            <a:r>
              <a:rPr sz="1500" spc="1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replace</a:t>
            </a:r>
            <a:r>
              <a:rPr sz="1500" spc="2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small</a:t>
            </a:r>
            <a:r>
              <a:rPr sz="1500" spc="2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local</a:t>
            </a:r>
            <a:r>
              <a:rPr sz="1500" spc="2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subgraphs</a:t>
            </a:r>
            <a:endParaRPr sz="1500">
              <a:latin typeface="Arial MT"/>
              <a:cs typeface="Arial MT"/>
            </a:endParaRPr>
          </a:p>
          <a:p>
            <a:pPr marL="29209">
              <a:lnSpc>
                <a:spcPct val="100000"/>
              </a:lnSpc>
              <a:spcBef>
                <a:spcPts val="1140"/>
              </a:spcBef>
            </a:pPr>
            <a:r>
              <a:rPr sz="1500" dirty="0">
                <a:latin typeface="Arial MT"/>
                <a:cs typeface="Arial MT"/>
              </a:rPr>
              <a:t>:</a:t>
            </a:r>
            <a:r>
              <a:rPr sz="1500" spc="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resynthesize</a:t>
            </a:r>
            <a:r>
              <a:rPr sz="1500" spc="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larger</a:t>
            </a:r>
            <a:r>
              <a:rPr sz="1500" spc="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logic</a:t>
            </a:r>
            <a:r>
              <a:rPr sz="1500" spc="3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cones</a:t>
            </a:r>
            <a:endParaRPr sz="1500">
              <a:latin typeface="Arial MT"/>
              <a:cs typeface="Arial MT"/>
            </a:endParaRPr>
          </a:p>
          <a:p>
            <a:pPr marL="34290">
              <a:lnSpc>
                <a:spcPct val="100000"/>
              </a:lnSpc>
              <a:spcBef>
                <a:spcPts val="1145"/>
              </a:spcBef>
            </a:pPr>
            <a:r>
              <a:rPr sz="1500" dirty="0">
                <a:latin typeface="Arial MT"/>
                <a:cs typeface="Arial MT"/>
              </a:rPr>
              <a:t>:</a:t>
            </a:r>
            <a:r>
              <a:rPr sz="1500" spc="2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allow</a:t>
            </a:r>
            <a:r>
              <a:rPr sz="1500" spc="2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non-worse</a:t>
            </a:r>
            <a:r>
              <a:rPr sz="1500" spc="2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replacement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4725" y="3747344"/>
            <a:ext cx="5532755" cy="2590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0" indent="-120650">
              <a:lnSpc>
                <a:spcPct val="100000"/>
              </a:lnSpc>
              <a:spcBef>
                <a:spcPts val="130"/>
              </a:spcBef>
              <a:buFont typeface="Arial MT"/>
              <a:buChar char="•"/>
              <a:tabLst>
                <a:tab pos="133350" algn="l"/>
              </a:tabLst>
            </a:pPr>
            <a:r>
              <a:rPr sz="1500" b="1" dirty="0">
                <a:latin typeface="Arial"/>
                <a:cs typeface="Arial"/>
              </a:rPr>
              <a:t>resyn2</a:t>
            </a:r>
            <a:r>
              <a:rPr sz="1500" b="1" spc="35" dirty="0">
                <a:latin typeface="Arial"/>
                <a:cs typeface="Arial"/>
              </a:rPr>
              <a:t> </a:t>
            </a:r>
            <a:r>
              <a:rPr sz="1500" dirty="0">
                <a:latin typeface="Arial MT"/>
                <a:cs typeface="Arial MT"/>
              </a:rPr>
              <a:t>repeatedly</a:t>
            </a:r>
            <a:r>
              <a:rPr sz="1500" spc="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applies</a:t>
            </a:r>
            <a:r>
              <a:rPr sz="1500" spc="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balancing,</a:t>
            </a:r>
            <a:r>
              <a:rPr sz="1500" spc="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rewriting,</a:t>
            </a:r>
            <a:r>
              <a:rPr sz="1500" spc="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and</a:t>
            </a:r>
            <a:r>
              <a:rPr sz="1500" spc="4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refactoring</a:t>
            </a:r>
            <a:endParaRPr sz="1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9215">
              <a:lnSpc>
                <a:spcPct val="100000"/>
              </a:lnSpc>
              <a:spcBef>
                <a:spcPts val="125"/>
              </a:spcBef>
            </a:pPr>
            <a:r>
              <a:rPr sz="2450" spc="-10" dirty="0"/>
              <a:t>Motivation</a:t>
            </a:r>
            <a:endParaRPr sz="2450"/>
          </a:p>
        </p:txBody>
      </p:sp>
      <p:sp>
        <p:nvSpPr>
          <p:cNvPr id="3" name="object 3"/>
          <p:cNvSpPr txBox="1"/>
          <p:nvPr/>
        </p:nvSpPr>
        <p:spPr>
          <a:xfrm>
            <a:off x="384725" y="1081606"/>
            <a:ext cx="6071235" cy="2171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100"/>
              </a:spcBef>
              <a:buChar char="•"/>
              <a:tabLst>
                <a:tab pos="155575" algn="l"/>
              </a:tabLst>
            </a:pPr>
            <a:r>
              <a:rPr dirty="0">
                <a:latin typeface="Arial MT"/>
                <a:cs typeface="Arial MT"/>
              </a:rPr>
              <a:t>Large</a:t>
            </a:r>
            <a:r>
              <a:rPr spc="-114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AIGs</a:t>
            </a:r>
            <a:r>
              <a:rPr spc="-1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make</a:t>
            </a:r>
            <a:r>
              <a:rPr spc="-5" dirty="0">
                <a:latin typeface="Arial MT"/>
                <a:cs typeface="Arial MT"/>
              </a:rPr>
              <a:t> </a:t>
            </a:r>
            <a:r>
              <a:rPr b="1" dirty="0">
                <a:latin typeface="Arial"/>
                <a:cs typeface="Arial"/>
              </a:rPr>
              <a:t>resyn2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spc="-10" dirty="0">
                <a:latin typeface="Arial MT"/>
                <a:cs typeface="Arial MT"/>
              </a:rPr>
              <a:t>time-consuming</a:t>
            </a:r>
            <a:endParaRPr dirty="0">
              <a:latin typeface="Arial MT"/>
              <a:cs typeface="Arial MT"/>
            </a:endParaRPr>
          </a:p>
          <a:p>
            <a:pPr marL="155575" indent="-142875">
              <a:lnSpc>
                <a:spcPct val="100000"/>
              </a:lnSpc>
              <a:spcBef>
                <a:spcPts val="1520"/>
              </a:spcBef>
              <a:buChar char="•"/>
              <a:tabLst>
                <a:tab pos="155575" algn="l"/>
              </a:tabLst>
            </a:pPr>
            <a:r>
              <a:rPr dirty="0">
                <a:latin typeface="Arial MT"/>
                <a:cs typeface="Arial MT"/>
              </a:rPr>
              <a:t>Previous</a:t>
            </a:r>
            <a:r>
              <a:rPr spc="-3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work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has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accelerated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rewriting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on</a:t>
            </a:r>
            <a:r>
              <a:rPr spc="-20" dirty="0">
                <a:latin typeface="Arial MT"/>
                <a:cs typeface="Arial MT"/>
              </a:rPr>
              <a:t> GPUs</a:t>
            </a:r>
            <a:endParaRPr dirty="0">
              <a:latin typeface="Arial MT"/>
              <a:cs typeface="Arial MT"/>
            </a:endParaRPr>
          </a:p>
          <a:p>
            <a:pPr marL="608330" lvl="1" indent="-138430">
              <a:lnSpc>
                <a:spcPct val="100000"/>
              </a:lnSpc>
              <a:spcBef>
                <a:spcPts val="1525"/>
              </a:spcBef>
              <a:buChar char="-"/>
              <a:tabLst>
                <a:tab pos="608330" algn="l"/>
              </a:tabLst>
            </a:pPr>
            <a:r>
              <a:rPr dirty="0">
                <a:latin typeface="Arial MT"/>
                <a:cs typeface="Arial MT"/>
              </a:rPr>
              <a:t>but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b="1" dirty="0">
                <a:latin typeface="Arial"/>
                <a:cs typeface="Arial"/>
              </a:rPr>
              <a:t>resyn2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dirty="0">
                <a:latin typeface="Arial MT"/>
                <a:cs typeface="Arial MT"/>
              </a:rPr>
              <a:t>also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includes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refactoring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and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balancing</a:t>
            </a:r>
            <a:endParaRPr dirty="0">
              <a:latin typeface="Arial MT"/>
              <a:cs typeface="Arial MT"/>
            </a:endParaRPr>
          </a:p>
          <a:p>
            <a:pPr marL="151765" indent="-139065">
              <a:lnSpc>
                <a:spcPct val="100000"/>
              </a:lnSpc>
              <a:spcBef>
                <a:spcPts val="1525"/>
              </a:spcBef>
              <a:buChar char="•"/>
              <a:tabLst>
                <a:tab pos="151765" algn="l"/>
              </a:tabLst>
            </a:pPr>
            <a:r>
              <a:rPr dirty="0">
                <a:latin typeface="Arial MT"/>
                <a:cs typeface="Arial MT"/>
              </a:rPr>
              <a:t>This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paper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parallelizes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refactoring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and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balancing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on</a:t>
            </a:r>
            <a:r>
              <a:rPr spc="-20" dirty="0">
                <a:latin typeface="Arial MT"/>
                <a:cs typeface="Arial MT"/>
              </a:rPr>
              <a:t> GPUs</a:t>
            </a:r>
            <a:endParaRPr dirty="0">
              <a:latin typeface="Arial MT"/>
              <a:cs typeface="Arial MT"/>
            </a:endParaRPr>
          </a:p>
          <a:p>
            <a:pPr marL="608330" lvl="1" indent="-138430">
              <a:lnSpc>
                <a:spcPct val="100000"/>
              </a:lnSpc>
              <a:spcBef>
                <a:spcPts val="1525"/>
              </a:spcBef>
              <a:buChar char="-"/>
              <a:tabLst>
                <a:tab pos="608330" algn="l"/>
              </a:tabLst>
            </a:pPr>
            <a:r>
              <a:rPr dirty="0">
                <a:latin typeface="Arial MT"/>
                <a:cs typeface="Arial MT"/>
              </a:rPr>
              <a:t>enabling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full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GPU-</a:t>
            </a:r>
            <a:r>
              <a:rPr dirty="0">
                <a:latin typeface="Arial MT"/>
                <a:cs typeface="Arial MT"/>
              </a:rPr>
              <a:t>accelerated</a:t>
            </a:r>
            <a:r>
              <a:rPr spc="-10" dirty="0">
                <a:latin typeface="Arial MT"/>
                <a:cs typeface="Arial MT"/>
              </a:rPr>
              <a:t> </a:t>
            </a:r>
            <a:r>
              <a:rPr b="1" dirty="0">
                <a:latin typeface="Arial"/>
                <a:cs typeface="Arial"/>
              </a:rPr>
              <a:t>resyn2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spc="-20" dirty="0">
                <a:latin typeface="Arial MT"/>
                <a:cs typeface="Arial MT"/>
              </a:rPr>
              <a:t>flow</a:t>
            </a:r>
            <a:endParaRPr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Preliminaries</a:t>
            </a:r>
            <a:r>
              <a:rPr spc="-25" dirty="0"/>
              <a:t> </a:t>
            </a:r>
            <a:r>
              <a:rPr dirty="0"/>
              <a:t>-</a:t>
            </a:r>
            <a:r>
              <a:rPr spc="-155" dirty="0"/>
              <a:t> </a:t>
            </a:r>
            <a:r>
              <a:rPr dirty="0"/>
              <a:t>AIG</a:t>
            </a:r>
            <a:r>
              <a:rPr spc="-2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spc="-20" dirty="0"/>
              <a:t>Cone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07758"/>
            <a:ext cx="3634740" cy="315849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18110" indent="-105410">
              <a:lnSpc>
                <a:spcPct val="100000"/>
              </a:lnSpc>
              <a:spcBef>
                <a:spcPts val="110"/>
              </a:spcBef>
              <a:buChar char="•"/>
              <a:tabLst>
                <a:tab pos="118110" algn="l"/>
              </a:tabLst>
            </a:pPr>
            <a:r>
              <a:rPr sz="1450" spc="-25" dirty="0">
                <a:latin typeface="Arial MT"/>
                <a:cs typeface="Arial MT"/>
              </a:rPr>
              <a:t>AIG</a:t>
            </a:r>
            <a:endParaRPr sz="1450" dirty="0">
              <a:latin typeface="Arial MT"/>
              <a:cs typeface="Arial MT"/>
            </a:endParaRPr>
          </a:p>
          <a:p>
            <a:pPr marL="582295" lvl="1" indent="-112395">
              <a:lnSpc>
                <a:spcPct val="100000"/>
              </a:lnSpc>
              <a:spcBef>
                <a:spcPts val="1125"/>
              </a:spcBef>
              <a:buChar char="-"/>
              <a:tabLst>
                <a:tab pos="582295" algn="l"/>
              </a:tabLst>
            </a:pPr>
            <a:r>
              <a:rPr sz="1450" dirty="0">
                <a:latin typeface="Arial MT"/>
                <a:cs typeface="Arial MT"/>
              </a:rPr>
              <a:t>internal</a:t>
            </a:r>
            <a:r>
              <a:rPr sz="1450" spc="-2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nodes</a:t>
            </a:r>
            <a:r>
              <a:rPr sz="1450" spc="-2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are</a:t>
            </a:r>
            <a:r>
              <a:rPr sz="1450" spc="-15" dirty="0">
                <a:latin typeface="Arial MT"/>
                <a:cs typeface="Arial MT"/>
              </a:rPr>
              <a:t> </a:t>
            </a:r>
            <a:r>
              <a:rPr sz="1450" spc="-10" dirty="0">
                <a:latin typeface="Arial MT"/>
                <a:cs typeface="Arial MT"/>
              </a:rPr>
              <a:t>2-</a:t>
            </a:r>
            <a:r>
              <a:rPr sz="1450" dirty="0">
                <a:latin typeface="Arial MT"/>
                <a:cs typeface="Arial MT"/>
              </a:rPr>
              <a:t>input</a:t>
            </a:r>
            <a:r>
              <a:rPr sz="1450" spc="-95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AND</a:t>
            </a:r>
            <a:r>
              <a:rPr sz="1450" spc="-20" dirty="0">
                <a:latin typeface="Arial MT"/>
                <a:cs typeface="Arial MT"/>
              </a:rPr>
              <a:t> </a:t>
            </a:r>
            <a:r>
              <a:rPr sz="1450" spc="-10" dirty="0">
                <a:latin typeface="Arial MT"/>
                <a:cs typeface="Arial MT"/>
              </a:rPr>
              <a:t>gates</a:t>
            </a:r>
            <a:endParaRPr sz="1450" dirty="0">
              <a:latin typeface="Arial MT"/>
              <a:cs typeface="Arial MT"/>
            </a:endParaRPr>
          </a:p>
          <a:p>
            <a:pPr marL="582295" lvl="1" indent="-112395">
              <a:lnSpc>
                <a:spcPct val="100000"/>
              </a:lnSpc>
              <a:spcBef>
                <a:spcPts val="1120"/>
              </a:spcBef>
              <a:buChar char="-"/>
              <a:tabLst>
                <a:tab pos="582295" algn="l"/>
              </a:tabLst>
            </a:pPr>
            <a:r>
              <a:rPr sz="1450" dirty="0">
                <a:latin typeface="Arial MT"/>
                <a:cs typeface="Arial MT"/>
              </a:rPr>
              <a:t>edges</a:t>
            </a:r>
            <a:r>
              <a:rPr sz="1450" spc="-1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may</a:t>
            </a:r>
            <a:r>
              <a:rPr sz="1450" spc="-5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be</a:t>
            </a:r>
            <a:r>
              <a:rPr sz="1450" spc="-10" dirty="0">
                <a:latin typeface="Arial MT"/>
                <a:cs typeface="Arial MT"/>
              </a:rPr>
              <a:t> complemented</a:t>
            </a:r>
            <a:endParaRPr sz="1450" dirty="0">
              <a:latin typeface="Arial MT"/>
              <a:cs typeface="Arial MT"/>
            </a:endParaRPr>
          </a:p>
          <a:p>
            <a:pPr marL="128270" indent="-115570">
              <a:lnSpc>
                <a:spcPct val="100000"/>
              </a:lnSpc>
              <a:spcBef>
                <a:spcPts val="1125"/>
              </a:spcBef>
              <a:buChar char="•"/>
              <a:tabLst>
                <a:tab pos="128270" algn="l"/>
              </a:tabLst>
            </a:pPr>
            <a:r>
              <a:rPr sz="1450" spc="-10" dirty="0">
                <a:latin typeface="Arial MT"/>
                <a:cs typeface="Arial MT"/>
              </a:rPr>
              <a:t>Metrics</a:t>
            </a:r>
            <a:endParaRPr sz="1450" dirty="0">
              <a:latin typeface="Arial MT"/>
              <a:cs typeface="Arial MT"/>
            </a:endParaRPr>
          </a:p>
          <a:p>
            <a:pPr marL="582295" lvl="1" indent="-112395">
              <a:lnSpc>
                <a:spcPct val="100000"/>
              </a:lnSpc>
              <a:spcBef>
                <a:spcPts val="1125"/>
              </a:spcBef>
              <a:buChar char="-"/>
              <a:tabLst>
                <a:tab pos="582295" algn="l"/>
              </a:tabLst>
            </a:pPr>
            <a:r>
              <a:rPr sz="1450" dirty="0">
                <a:latin typeface="Arial MT"/>
                <a:cs typeface="Arial MT"/>
              </a:rPr>
              <a:t>area</a:t>
            </a:r>
            <a:r>
              <a:rPr sz="1450" spc="-1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=</a:t>
            </a:r>
            <a:r>
              <a:rPr sz="1450" spc="-5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number</a:t>
            </a:r>
            <a:r>
              <a:rPr sz="1450" spc="-1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of</a:t>
            </a:r>
            <a:r>
              <a:rPr sz="1450" spc="-85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AIG</a:t>
            </a:r>
            <a:r>
              <a:rPr sz="1450" spc="-5" dirty="0">
                <a:latin typeface="Arial MT"/>
                <a:cs typeface="Arial MT"/>
              </a:rPr>
              <a:t> </a:t>
            </a:r>
            <a:r>
              <a:rPr sz="1450" spc="-10" dirty="0">
                <a:latin typeface="Arial MT"/>
                <a:cs typeface="Arial MT"/>
              </a:rPr>
              <a:t>nodes</a:t>
            </a:r>
            <a:endParaRPr sz="1450" dirty="0">
              <a:latin typeface="Arial MT"/>
              <a:cs typeface="Arial MT"/>
            </a:endParaRPr>
          </a:p>
          <a:p>
            <a:pPr marL="582295" lvl="1" indent="-112395">
              <a:lnSpc>
                <a:spcPct val="100000"/>
              </a:lnSpc>
              <a:spcBef>
                <a:spcPts val="1125"/>
              </a:spcBef>
              <a:buChar char="-"/>
              <a:tabLst>
                <a:tab pos="582295" algn="l"/>
              </a:tabLst>
            </a:pPr>
            <a:r>
              <a:rPr sz="1450" dirty="0">
                <a:latin typeface="Arial MT"/>
                <a:cs typeface="Arial MT"/>
              </a:rPr>
              <a:t>delay = number</a:t>
            </a:r>
            <a:r>
              <a:rPr sz="1450" spc="5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of</a:t>
            </a:r>
            <a:r>
              <a:rPr sz="1450" spc="-8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AIG </a:t>
            </a:r>
            <a:r>
              <a:rPr sz="1450" spc="-10" dirty="0">
                <a:latin typeface="Arial MT"/>
                <a:cs typeface="Arial MT"/>
              </a:rPr>
              <a:t>levels</a:t>
            </a:r>
            <a:endParaRPr sz="1450" dirty="0">
              <a:latin typeface="Arial MT"/>
              <a:cs typeface="Arial MT"/>
            </a:endParaRPr>
          </a:p>
          <a:p>
            <a:pPr marL="128270" indent="-115570">
              <a:lnSpc>
                <a:spcPct val="100000"/>
              </a:lnSpc>
              <a:spcBef>
                <a:spcPts val="1125"/>
              </a:spcBef>
              <a:buChar char="•"/>
              <a:tabLst>
                <a:tab pos="128270" algn="l"/>
              </a:tabLst>
            </a:pPr>
            <a:r>
              <a:rPr sz="1450" spc="-20" dirty="0">
                <a:latin typeface="Arial MT"/>
                <a:cs typeface="Arial MT"/>
              </a:rPr>
              <a:t>Cone</a:t>
            </a:r>
            <a:endParaRPr sz="1450" dirty="0">
              <a:latin typeface="Arial MT"/>
              <a:cs typeface="Arial MT"/>
            </a:endParaRPr>
          </a:p>
          <a:p>
            <a:pPr marL="582295" lvl="1" indent="-112395">
              <a:lnSpc>
                <a:spcPct val="100000"/>
              </a:lnSpc>
              <a:spcBef>
                <a:spcPts val="1125"/>
              </a:spcBef>
              <a:buChar char="-"/>
              <a:tabLst>
                <a:tab pos="582295" algn="l"/>
              </a:tabLst>
            </a:pPr>
            <a:r>
              <a:rPr sz="1450" dirty="0">
                <a:latin typeface="Arial MT"/>
                <a:cs typeface="Arial MT"/>
              </a:rPr>
              <a:t>local</a:t>
            </a:r>
            <a:r>
              <a:rPr sz="1450" spc="-2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subgraph</a:t>
            </a:r>
            <a:r>
              <a:rPr sz="1450" spc="-2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rooted</a:t>
            </a:r>
            <a:r>
              <a:rPr sz="1450" spc="-2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at</a:t>
            </a:r>
            <a:r>
              <a:rPr sz="1450" spc="-15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a</a:t>
            </a:r>
            <a:r>
              <a:rPr sz="1450" spc="-20" dirty="0">
                <a:latin typeface="Arial MT"/>
                <a:cs typeface="Arial MT"/>
              </a:rPr>
              <a:t> node</a:t>
            </a:r>
            <a:endParaRPr sz="1450" dirty="0">
              <a:latin typeface="Arial MT"/>
              <a:cs typeface="Arial MT"/>
            </a:endParaRPr>
          </a:p>
          <a:p>
            <a:pPr marL="582295" lvl="1" indent="-112395">
              <a:lnSpc>
                <a:spcPct val="100000"/>
              </a:lnSpc>
              <a:spcBef>
                <a:spcPts val="1125"/>
              </a:spcBef>
              <a:buChar char="-"/>
              <a:tabLst>
                <a:tab pos="582295" algn="l"/>
              </a:tabLst>
            </a:pPr>
            <a:r>
              <a:rPr sz="1450" dirty="0">
                <a:latin typeface="Arial MT"/>
                <a:cs typeface="Arial MT"/>
              </a:rPr>
              <a:t>cut</a:t>
            </a:r>
            <a:r>
              <a:rPr sz="1450" spc="-1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nodes</a:t>
            </a:r>
            <a:r>
              <a:rPr sz="1450" spc="-1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are</a:t>
            </a:r>
            <a:r>
              <a:rPr sz="1450" spc="-1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the</a:t>
            </a:r>
            <a:r>
              <a:rPr sz="1450" spc="-1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inputs</a:t>
            </a:r>
            <a:r>
              <a:rPr sz="1450" spc="-1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of</a:t>
            </a:r>
            <a:r>
              <a:rPr sz="1450" spc="-1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the</a:t>
            </a:r>
            <a:r>
              <a:rPr sz="1450" spc="-10" dirty="0">
                <a:latin typeface="Arial MT"/>
                <a:cs typeface="Arial MT"/>
              </a:rPr>
              <a:t> </a:t>
            </a:r>
            <a:r>
              <a:rPr sz="1450" spc="-20" dirty="0">
                <a:latin typeface="Arial MT"/>
                <a:cs typeface="Arial MT"/>
              </a:rPr>
              <a:t>cone</a:t>
            </a:r>
            <a:endParaRPr sz="1450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0" y="1152649"/>
            <a:ext cx="4267200" cy="33852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Background</a:t>
            </a:r>
            <a:r>
              <a:rPr spc="-20" dirty="0"/>
              <a:t> </a:t>
            </a:r>
            <a:r>
              <a:rPr dirty="0"/>
              <a:t>-</a:t>
            </a:r>
            <a:r>
              <a:rPr spc="-160" dirty="0"/>
              <a:t> </a:t>
            </a:r>
            <a:r>
              <a:rPr dirty="0"/>
              <a:t>AIG</a:t>
            </a:r>
            <a:r>
              <a:rPr spc="-15" dirty="0"/>
              <a:t> </a:t>
            </a:r>
            <a:r>
              <a:rPr spc="-10" dirty="0"/>
              <a:t>Refactoring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384725" y="1216355"/>
            <a:ext cx="5003800" cy="2890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100"/>
              </a:spcBef>
              <a:buChar char="•"/>
              <a:tabLst>
                <a:tab pos="155575" algn="l"/>
              </a:tabLst>
            </a:pPr>
            <a:r>
              <a:rPr dirty="0"/>
              <a:t>Refactoring</a:t>
            </a:r>
            <a:r>
              <a:rPr spc="-30" dirty="0"/>
              <a:t> </a:t>
            </a:r>
            <a:r>
              <a:rPr dirty="0"/>
              <a:t>optimizes</a:t>
            </a:r>
            <a:r>
              <a:rPr spc="-20" dirty="0"/>
              <a:t> </a:t>
            </a:r>
            <a:r>
              <a:rPr dirty="0"/>
              <a:t>larger</a:t>
            </a:r>
            <a:r>
              <a:rPr spc="-20" dirty="0"/>
              <a:t> </a:t>
            </a:r>
            <a:r>
              <a:rPr dirty="0"/>
              <a:t>local</a:t>
            </a:r>
            <a:r>
              <a:rPr spc="-20" dirty="0"/>
              <a:t> </a:t>
            </a:r>
            <a:r>
              <a:rPr dirty="0"/>
              <a:t>logic</a:t>
            </a:r>
            <a:r>
              <a:rPr spc="-15" dirty="0"/>
              <a:t> </a:t>
            </a:r>
            <a:r>
              <a:rPr spc="-10" dirty="0"/>
              <a:t>cones</a:t>
            </a:r>
            <a:endParaRPr dirty="0"/>
          </a:p>
          <a:p>
            <a:pPr marL="155575" indent="-142875">
              <a:lnSpc>
                <a:spcPct val="100000"/>
              </a:lnSpc>
              <a:spcBef>
                <a:spcPts val="1525"/>
              </a:spcBef>
              <a:buChar char="•"/>
              <a:tabLst>
                <a:tab pos="155575" algn="l"/>
              </a:tabLst>
            </a:pPr>
            <a:r>
              <a:rPr dirty="0"/>
              <a:t>Cone</a:t>
            </a:r>
            <a:r>
              <a:rPr spc="-20" dirty="0"/>
              <a:t> </a:t>
            </a:r>
            <a:r>
              <a:rPr spc="-10" dirty="0"/>
              <a:t>selection</a:t>
            </a:r>
            <a:endParaRPr dirty="0"/>
          </a:p>
          <a:p>
            <a:pPr marL="608330" lvl="1" indent="-138430">
              <a:lnSpc>
                <a:spcPct val="100000"/>
              </a:lnSpc>
              <a:spcBef>
                <a:spcPts val="1520"/>
              </a:spcBef>
              <a:buChar char="-"/>
              <a:tabLst>
                <a:tab pos="608330" algn="l"/>
              </a:tabLst>
            </a:pPr>
            <a:r>
              <a:rPr sz="1600" dirty="0">
                <a:latin typeface="Arial MT"/>
                <a:cs typeface="Arial MT"/>
              </a:rPr>
              <a:t>identify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local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logic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cone</a:t>
            </a:r>
            <a:endParaRPr sz="1600" dirty="0">
              <a:latin typeface="Arial MT"/>
              <a:cs typeface="Arial MT"/>
            </a:endParaRPr>
          </a:p>
          <a:p>
            <a:pPr marL="155575" indent="-142875">
              <a:lnSpc>
                <a:spcPct val="100000"/>
              </a:lnSpc>
              <a:spcBef>
                <a:spcPts val="1525"/>
              </a:spcBef>
              <a:buChar char="•"/>
              <a:tabLst>
                <a:tab pos="155575" algn="l"/>
              </a:tabLst>
            </a:pPr>
            <a:r>
              <a:rPr spc="-10" dirty="0"/>
              <a:t>Resynthesis</a:t>
            </a:r>
            <a:endParaRPr dirty="0"/>
          </a:p>
          <a:p>
            <a:pPr marL="608330" lvl="1" indent="-138430">
              <a:lnSpc>
                <a:spcPct val="100000"/>
              </a:lnSpc>
              <a:spcBef>
                <a:spcPts val="1525"/>
              </a:spcBef>
              <a:buChar char="-"/>
              <a:tabLst>
                <a:tab pos="608330" algn="l"/>
              </a:tabLst>
            </a:pPr>
            <a:r>
              <a:rPr sz="1600" dirty="0">
                <a:latin typeface="Arial MT"/>
                <a:cs typeface="Arial MT"/>
              </a:rPr>
              <a:t>rebuild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equivalent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cone</a:t>
            </a:r>
            <a:endParaRPr sz="1600" dirty="0">
              <a:latin typeface="Arial MT"/>
              <a:cs typeface="Arial MT"/>
            </a:endParaRPr>
          </a:p>
          <a:p>
            <a:pPr marL="155575" indent="-142875">
              <a:lnSpc>
                <a:spcPct val="100000"/>
              </a:lnSpc>
              <a:spcBef>
                <a:spcPts val="1525"/>
              </a:spcBef>
              <a:buChar char="•"/>
              <a:tabLst>
                <a:tab pos="155575" algn="l"/>
              </a:tabLst>
            </a:pPr>
            <a:r>
              <a:rPr spc="-10" dirty="0"/>
              <a:t>Replacement</a:t>
            </a:r>
            <a:endParaRPr dirty="0"/>
          </a:p>
          <a:p>
            <a:pPr marL="608330" lvl="1" indent="-138430">
              <a:lnSpc>
                <a:spcPct val="100000"/>
              </a:lnSpc>
              <a:spcBef>
                <a:spcPts val="1525"/>
              </a:spcBef>
              <a:buChar char="-"/>
              <a:tabLst>
                <a:tab pos="608330" algn="l"/>
              </a:tabLst>
            </a:pPr>
            <a:r>
              <a:rPr sz="1600" dirty="0">
                <a:latin typeface="Arial MT"/>
                <a:cs typeface="Arial MT"/>
              </a:rPr>
              <a:t>replace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original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cone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if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quality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improves</a:t>
            </a:r>
            <a:endParaRPr sz="1600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1998" y="1729234"/>
            <a:ext cx="4406325" cy="17799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0" dirty="0"/>
              <a:t>Fanout-</a:t>
            </a:r>
            <a:r>
              <a:rPr dirty="0"/>
              <a:t>Free</a:t>
            </a:r>
            <a:r>
              <a:rPr spc="30" dirty="0"/>
              <a:t> </a:t>
            </a:r>
            <a:r>
              <a:rPr dirty="0"/>
              <a:t>Cone</a:t>
            </a:r>
            <a:r>
              <a:rPr spc="30" dirty="0"/>
              <a:t> </a:t>
            </a:r>
            <a:r>
              <a:rPr dirty="0"/>
              <a:t>and</a:t>
            </a:r>
            <a:r>
              <a:rPr spc="35" dirty="0"/>
              <a:t> </a:t>
            </a:r>
            <a:r>
              <a:rPr spc="-20" dirty="0"/>
              <a:t>MFFC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8057"/>
            <a:ext cx="5140325" cy="298479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8270" indent="-115570">
              <a:lnSpc>
                <a:spcPct val="100000"/>
              </a:lnSpc>
              <a:spcBef>
                <a:spcPts val="114"/>
              </a:spcBef>
              <a:buChar char="•"/>
              <a:tabLst>
                <a:tab pos="128270" algn="l"/>
              </a:tabLst>
            </a:pPr>
            <a:r>
              <a:rPr sz="1600" spc="-10" dirty="0">
                <a:latin typeface="Arial MT"/>
                <a:cs typeface="Arial MT"/>
              </a:rPr>
              <a:t>Fanout-</a:t>
            </a:r>
            <a:r>
              <a:rPr sz="1600" dirty="0">
                <a:latin typeface="Arial MT"/>
                <a:cs typeface="Arial MT"/>
              </a:rPr>
              <a:t>Free Cone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(FFC)</a:t>
            </a:r>
            <a:endParaRPr sz="1600" dirty="0">
              <a:latin typeface="Arial MT"/>
              <a:cs typeface="Arial MT"/>
            </a:endParaRPr>
          </a:p>
          <a:p>
            <a:pPr marL="582295" lvl="1" indent="-112395">
              <a:lnSpc>
                <a:spcPct val="100000"/>
              </a:lnSpc>
              <a:spcBef>
                <a:spcPts val="1305"/>
              </a:spcBef>
              <a:buChar char="-"/>
              <a:tabLst>
                <a:tab pos="582295" algn="l"/>
              </a:tabLst>
            </a:pPr>
            <a:r>
              <a:rPr sz="1600" dirty="0">
                <a:latin typeface="Arial MT"/>
                <a:cs typeface="Arial MT"/>
              </a:rPr>
              <a:t>internal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nodes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are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not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shared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with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outside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logic</a:t>
            </a:r>
            <a:endParaRPr sz="1600" dirty="0">
              <a:latin typeface="Arial MT"/>
              <a:cs typeface="Arial MT"/>
            </a:endParaRPr>
          </a:p>
          <a:p>
            <a:pPr marL="128270" indent="-115570">
              <a:lnSpc>
                <a:spcPct val="100000"/>
              </a:lnSpc>
              <a:spcBef>
                <a:spcPts val="1305"/>
              </a:spcBef>
              <a:buChar char="•"/>
              <a:tabLst>
                <a:tab pos="128270" algn="l"/>
              </a:tabLst>
            </a:pPr>
            <a:r>
              <a:rPr sz="1600" dirty="0">
                <a:latin typeface="Arial MT"/>
                <a:cs typeface="Arial MT"/>
              </a:rPr>
              <a:t>Maximum</a:t>
            </a:r>
            <a:r>
              <a:rPr sz="1600" spc="-10" dirty="0">
                <a:latin typeface="Arial MT"/>
                <a:cs typeface="Arial MT"/>
              </a:rPr>
              <a:t> Fanout-</a:t>
            </a:r>
            <a:r>
              <a:rPr sz="1600" dirty="0">
                <a:latin typeface="Arial MT"/>
                <a:cs typeface="Arial MT"/>
              </a:rPr>
              <a:t>Free Cone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(MFFC)</a:t>
            </a:r>
            <a:endParaRPr sz="1600" dirty="0">
              <a:latin typeface="Arial MT"/>
              <a:cs typeface="Arial MT"/>
            </a:endParaRPr>
          </a:p>
          <a:p>
            <a:pPr marL="582295" lvl="1" indent="-112395">
              <a:lnSpc>
                <a:spcPct val="100000"/>
              </a:lnSpc>
              <a:spcBef>
                <a:spcPts val="1305"/>
              </a:spcBef>
              <a:buChar char="-"/>
              <a:tabLst>
                <a:tab pos="582295" algn="l"/>
              </a:tabLst>
            </a:pPr>
            <a:r>
              <a:rPr sz="1600" dirty="0">
                <a:latin typeface="Arial MT"/>
                <a:cs typeface="Arial MT"/>
              </a:rPr>
              <a:t>largest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FFC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root</a:t>
            </a:r>
            <a:endParaRPr sz="1600" dirty="0">
              <a:latin typeface="Arial MT"/>
              <a:cs typeface="Arial MT"/>
            </a:endParaRPr>
          </a:p>
          <a:p>
            <a:pPr marL="128270" indent="-115570">
              <a:lnSpc>
                <a:spcPct val="100000"/>
              </a:lnSpc>
              <a:spcBef>
                <a:spcPts val="1305"/>
              </a:spcBef>
              <a:buChar char="•"/>
              <a:tabLst>
                <a:tab pos="128270" algn="l"/>
              </a:tabLst>
            </a:pPr>
            <a:r>
              <a:rPr sz="1600" dirty="0">
                <a:latin typeface="Arial MT"/>
                <a:cs typeface="Arial MT"/>
              </a:rPr>
              <a:t>Why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FFC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is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useful</a:t>
            </a:r>
            <a:endParaRPr sz="1600" dirty="0">
              <a:latin typeface="Arial MT"/>
              <a:cs typeface="Arial MT"/>
            </a:endParaRPr>
          </a:p>
          <a:p>
            <a:pPr marL="582295" lvl="1" indent="-112395">
              <a:lnSpc>
                <a:spcPct val="100000"/>
              </a:lnSpc>
              <a:spcBef>
                <a:spcPts val="1310"/>
              </a:spcBef>
              <a:buChar char="-"/>
              <a:tabLst>
                <a:tab pos="582295" algn="l"/>
              </a:tabLst>
            </a:pPr>
            <a:r>
              <a:rPr sz="1600" dirty="0">
                <a:latin typeface="Arial MT"/>
                <a:cs typeface="Arial MT"/>
              </a:rPr>
              <a:t>replacing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FFC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does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not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affect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logic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outside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cone</a:t>
            </a:r>
            <a:endParaRPr sz="1600" dirty="0">
              <a:latin typeface="Arial MT"/>
              <a:cs typeface="Arial MT"/>
            </a:endParaRPr>
          </a:p>
          <a:p>
            <a:pPr marL="582295" lvl="1" indent="-112395">
              <a:lnSpc>
                <a:spcPct val="100000"/>
              </a:lnSpc>
              <a:spcBef>
                <a:spcPts val="1305"/>
              </a:spcBef>
              <a:buChar char="-"/>
              <a:tabLst>
                <a:tab pos="582295" algn="l"/>
              </a:tabLst>
            </a:pPr>
            <a:r>
              <a:rPr sz="1600" dirty="0">
                <a:latin typeface="Arial MT"/>
                <a:cs typeface="Arial MT"/>
              </a:rPr>
              <a:t>disjoint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FFCs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can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processed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independently</a:t>
            </a:r>
            <a:endParaRPr sz="1600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1" y="1352550"/>
            <a:ext cx="3782568" cy="166079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GPU-</a:t>
            </a:r>
            <a:r>
              <a:rPr dirty="0"/>
              <a:t>Parallel</a:t>
            </a:r>
            <a:r>
              <a:rPr spc="-30" dirty="0"/>
              <a:t> </a:t>
            </a:r>
            <a:r>
              <a:rPr spc="-10" dirty="0"/>
              <a:t>Refactoring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082621"/>
            <a:ext cx="5244465" cy="2433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0335" indent="-127635">
              <a:lnSpc>
                <a:spcPct val="100000"/>
              </a:lnSpc>
              <a:spcBef>
                <a:spcPts val="100"/>
              </a:spcBef>
              <a:buChar char="•"/>
              <a:tabLst>
                <a:tab pos="140335" algn="l"/>
              </a:tabLst>
            </a:pPr>
            <a:r>
              <a:rPr sz="1600" dirty="0">
                <a:latin typeface="Arial MT"/>
                <a:cs typeface="Arial MT"/>
              </a:rPr>
              <a:t>Basic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idea</a:t>
            </a:r>
            <a:endParaRPr sz="1600" dirty="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1485"/>
              </a:spcBef>
            </a:pPr>
            <a:r>
              <a:rPr sz="1600" dirty="0">
                <a:latin typeface="Arial MT"/>
                <a:cs typeface="Arial MT"/>
              </a:rPr>
              <a:t>-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use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disjoint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FFCs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as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independent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optimization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units</a:t>
            </a:r>
            <a:endParaRPr sz="1600" dirty="0">
              <a:latin typeface="Arial MT"/>
              <a:cs typeface="Arial MT"/>
            </a:endParaRPr>
          </a:p>
          <a:p>
            <a:pPr marL="136525" indent="-123825">
              <a:lnSpc>
                <a:spcPct val="100000"/>
              </a:lnSpc>
              <a:spcBef>
                <a:spcPts val="1490"/>
              </a:spcBef>
              <a:buChar char="•"/>
              <a:tabLst>
                <a:tab pos="136525" algn="l"/>
              </a:tabLst>
            </a:pPr>
            <a:r>
              <a:rPr sz="1600" spc="-10" dirty="0">
                <a:latin typeface="Arial MT"/>
                <a:cs typeface="Arial MT"/>
              </a:rPr>
              <a:t>Three-</a:t>
            </a:r>
            <a:r>
              <a:rPr sz="1600" dirty="0">
                <a:latin typeface="Arial MT"/>
                <a:cs typeface="Arial MT"/>
              </a:rPr>
              <a:t>stage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flow</a:t>
            </a:r>
            <a:endParaRPr sz="1600" dirty="0">
              <a:latin typeface="Arial MT"/>
              <a:cs typeface="Arial MT"/>
            </a:endParaRPr>
          </a:p>
          <a:p>
            <a:pPr marL="694690" lvl="1" indent="-224790">
              <a:lnSpc>
                <a:spcPct val="100000"/>
              </a:lnSpc>
              <a:spcBef>
                <a:spcPts val="1490"/>
              </a:spcBef>
              <a:buAutoNum type="arabicPeriod"/>
              <a:tabLst>
                <a:tab pos="694690" algn="l"/>
              </a:tabLst>
            </a:pPr>
            <a:r>
              <a:rPr sz="1600" dirty="0">
                <a:latin typeface="Arial MT"/>
                <a:cs typeface="Arial MT"/>
              </a:rPr>
              <a:t>Identify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and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collapse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disjoint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FFCs</a:t>
            </a:r>
            <a:endParaRPr sz="1600" dirty="0">
              <a:latin typeface="Arial MT"/>
              <a:cs typeface="Arial MT"/>
            </a:endParaRPr>
          </a:p>
          <a:p>
            <a:pPr marL="694690" lvl="1" indent="-224790">
              <a:lnSpc>
                <a:spcPct val="100000"/>
              </a:lnSpc>
              <a:spcBef>
                <a:spcPts val="1485"/>
              </a:spcBef>
              <a:buAutoNum type="arabicPeriod"/>
              <a:tabLst>
                <a:tab pos="694690" algn="l"/>
              </a:tabLst>
            </a:pPr>
            <a:r>
              <a:rPr sz="1600" dirty="0">
                <a:latin typeface="Arial MT"/>
                <a:cs typeface="Arial MT"/>
              </a:rPr>
              <a:t>Resynthesize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collapsed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FFCs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parallel</a:t>
            </a:r>
            <a:endParaRPr sz="1600" dirty="0">
              <a:latin typeface="Arial MT"/>
              <a:cs typeface="Arial MT"/>
            </a:endParaRPr>
          </a:p>
          <a:p>
            <a:pPr marL="694690" lvl="1" indent="-224790">
              <a:lnSpc>
                <a:spcPct val="100000"/>
              </a:lnSpc>
              <a:spcBef>
                <a:spcPts val="1490"/>
              </a:spcBef>
              <a:buAutoNum type="arabicPeriod"/>
              <a:tabLst>
                <a:tab pos="694690" algn="l"/>
              </a:tabLst>
            </a:pPr>
            <a:r>
              <a:rPr sz="1600" dirty="0">
                <a:latin typeface="Arial MT"/>
                <a:cs typeface="Arial MT"/>
              </a:rPr>
              <a:t>Replace</a:t>
            </a:r>
            <a:r>
              <a:rPr sz="1600" spc="-10" dirty="0">
                <a:latin typeface="Arial MT"/>
                <a:cs typeface="Arial MT"/>
              </a:rPr>
              <a:t> positive-</a:t>
            </a:r>
            <a:r>
              <a:rPr sz="1600" dirty="0">
                <a:latin typeface="Arial MT"/>
                <a:cs typeface="Arial MT"/>
              </a:rPr>
              <a:t>gain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cones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parallel</a:t>
            </a:r>
            <a:endParaRPr sz="1600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3724" y="3584550"/>
            <a:ext cx="4967593" cy="146574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Stage</a:t>
            </a:r>
            <a:r>
              <a:rPr spc="-40" dirty="0"/>
              <a:t> </a:t>
            </a:r>
            <a:r>
              <a:rPr dirty="0"/>
              <a:t>1:</a:t>
            </a:r>
            <a:r>
              <a:rPr spc="-40" dirty="0"/>
              <a:t> </a:t>
            </a:r>
            <a:r>
              <a:rPr dirty="0"/>
              <a:t>Identify</a:t>
            </a:r>
            <a:r>
              <a:rPr spc="-40" dirty="0"/>
              <a:t> </a:t>
            </a:r>
            <a:r>
              <a:rPr dirty="0"/>
              <a:t>and</a:t>
            </a:r>
            <a:r>
              <a:rPr spc="-40" dirty="0"/>
              <a:t> </a:t>
            </a:r>
            <a:r>
              <a:rPr dirty="0"/>
              <a:t>Collapse</a:t>
            </a:r>
            <a:r>
              <a:rPr spc="-40" dirty="0"/>
              <a:t> </a:t>
            </a:r>
            <a:r>
              <a:rPr dirty="0"/>
              <a:t>Disjoint</a:t>
            </a:r>
            <a:r>
              <a:rPr spc="-40" dirty="0"/>
              <a:t> </a:t>
            </a:r>
            <a:r>
              <a:rPr spc="-20" dirty="0"/>
              <a:t>FFCs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075159"/>
            <a:ext cx="4232910" cy="2364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3189" indent="-110489">
              <a:lnSpc>
                <a:spcPct val="100000"/>
              </a:lnSpc>
              <a:spcBef>
                <a:spcPts val="95"/>
              </a:spcBef>
              <a:buChar char="•"/>
              <a:tabLst>
                <a:tab pos="123189" algn="l"/>
              </a:tabLst>
            </a:pPr>
            <a:r>
              <a:rPr sz="1400" dirty="0">
                <a:latin typeface="Arial MT"/>
                <a:cs typeface="Arial MT"/>
              </a:rPr>
              <a:t>Frontier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=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current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roots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to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be</a:t>
            </a:r>
            <a:r>
              <a:rPr sz="1400" spc="-10" dirty="0">
                <a:latin typeface="Arial MT"/>
                <a:cs typeface="Arial MT"/>
              </a:rPr>
              <a:t> processed</a:t>
            </a:r>
            <a:endParaRPr sz="1400" dirty="0">
              <a:latin typeface="Arial MT"/>
              <a:cs typeface="Arial MT"/>
            </a:endParaRPr>
          </a:p>
          <a:p>
            <a:pPr marL="123189" indent="-110489">
              <a:lnSpc>
                <a:spcPct val="100000"/>
              </a:lnSpc>
              <a:spcBef>
                <a:spcPts val="1110"/>
              </a:spcBef>
              <a:buChar char="•"/>
              <a:tabLst>
                <a:tab pos="123189" algn="l"/>
              </a:tabLst>
            </a:pPr>
            <a:r>
              <a:rPr sz="1400" dirty="0">
                <a:latin typeface="Arial MT"/>
                <a:cs typeface="Arial MT"/>
              </a:rPr>
              <a:t>Start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from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primary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outputs</a:t>
            </a:r>
            <a:endParaRPr sz="1400" dirty="0">
              <a:latin typeface="Arial MT"/>
              <a:cs typeface="Arial MT"/>
            </a:endParaRPr>
          </a:p>
          <a:p>
            <a:pPr marL="123189" indent="-110489">
              <a:lnSpc>
                <a:spcPct val="100000"/>
              </a:lnSpc>
              <a:spcBef>
                <a:spcPts val="1110"/>
              </a:spcBef>
              <a:buChar char="•"/>
              <a:tabLst>
                <a:tab pos="123189" algn="l"/>
              </a:tabLst>
            </a:pPr>
            <a:r>
              <a:rPr sz="1400" dirty="0">
                <a:latin typeface="Arial MT"/>
                <a:cs typeface="Arial MT"/>
              </a:rPr>
              <a:t>For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each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node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in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frontier:</a:t>
            </a:r>
            <a:endParaRPr sz="1400" dirty="0">
              <a:latin typeface="Arial MT"/>
              <a:cs typeface="Arial MT"/>
            </a:endParaRPr>
          </a:p>
          <a:p>
            <a:pPr marL="577215" lvl="1" indent="-107314">
              <a:lnSpc>
                <a:spcPct val="100000"/>
              </a:lnSpc>
              <a:spcBef>
                <a:spcPts val="1110"/>
              </a:spcBef>
              <a:buChar char="-"/>
              <a:tabLst>
                <a:tab pos="577215" algn="l"/>
              </a:tabLst>
            </a:pPr>
            <a:r>
              <a:rPr sz="1400" dirty="0">
                <a:latin typeface="Arial MT"/>
                <a:cs typeface="Arial MT"/>
              </a:rPr>
              <a:t>find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its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fanout-</a:t>
            </a:r>
            <a:r>
              <a:rPr sz="1400" dirty="0">
                <a:latin typeface="Arial MT"/>
                <a:cs typeface="Arial MT"/>
              </a:rPr>
              <a:t>free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cone</a:t>
            </a:r>
            <a:endParaRPr sz="1400" dirty="0">
              <a:latin typeface="Arial MT"/>
              <a:cs typeface="Arial MT"/>
            </a:endParaRPr>
          </a:p>
          <a:p>
            <a:pPr marL="577215" lvl="1" indent="-107314">
              <a:lnSpc>
                <a:spcPct val="100000"/>
              </a:lnSpc>
              <a:spcBef>
                <a:spcPts val="1110"/>
              </a:spcBef>
              <a:buChar char="-"/>
              <a:tabLst>
                <a:tab pos="577215" algn="l"/>
              </a:tabLst>
            </a:pPr>
            <a:r>
              <a:rPr sz="1400" dirty="0">
                <a:latin typeface="Arial MT"/>
                <a:cs typeface="Arial MT"/>
              </a:rPr>
              <a:t>collapse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cone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into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local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Boolean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function</a:t>
            </a:r>
            <a:endParaRPr sz="1400" dirty="0">
              <a:latin typeface="Arial MT"/>
              <a:cs typeface="Arial MT"/>
            </a:endParaRPr>
          </a:p>
          <a:p>
            <a:pPr marL="123189" indent="-110489">
              <a:lnSpc>
                <a:spcPct val="100000"/>
              </a:lnSpc>
              <a:spcBef>
                <a:spcPts val="1110"/>
              </a:spcBef>
              <a:buChar char="•"/>
              <a:tabLst>
                <a:tab pos="123189" algn="l"/>
              </a:tabLst>
            </a:pPr>
            <a:r>
              <a:rPr sz="1400" dirty="0">
                <a:latin typeface="Arial MT"/>
                <a:cs typeface="Arial MT"/>
              </a:rPr>
              <a:t>Cone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inputs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become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next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frontier</a:t>
            </a:r>
            <a:endParaRPr sz="1400" dirty="0">
              <a:latin typeface="Arial MT"/>
              <a:cs typeface="Arial MT"/>
            </a:endParaRPr>
          </a:p>
          <a:p>
            <a:pPr marL="123189" indent="-110489">
              <a:lnSpc>
                <a:spcPct val="100000"/>
              </a:lnSpc>
              <a:spcBef>
                <a:spcPts val="1110"/>
              </a:spcBef>
              <a:buChar char="•"/>
              <a:tabLst>
                <a:tab pos="123189" algn="l"/>
              </a:tabLst>
            </a:pPr>
            <a:r>
              <a:rPr sz="1400" dirty="0">
                <a:latin typeface="Arial MT"/>
                <a:cs typeface="Arial MT"/>
              </a:rPr>
              <a:t>Repeat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from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POs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to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25" dirty="0">
                <a:latin typeface="Arial MT"/>
                <a:cs typeface="Arial MT"/>
              </a:rPr>
              <a:t>PIs</a:t>
            </a:r>
            <a:endParaRPr sz="1400" dirty="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128458" y="3647800"/>
            <a:ext cx="6862445" cy="1271270"/>
            <a:chOff x="1128458" y="3647800"/>
            <a:chExt cx="6862445" cy="127127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28458" y="3647800"/>
              <a:ext cx="6862450" cy="12710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917849" y="4066700"/>
              <a:ext cx="3410585" cy="473075"/>
            </a:xfrm>
            <a:custGeom>
              <a:avLst/>
              <a:gdLst/>
              <a:ahLst/>
              <a:cxnLst/>
              <a:rect l="l" t="t" r="r" b="b"/>
              <a:pathLst>
                <a:path w="3410585" h="473075">
                  <a:moveTo>
                    <a:pt x="0" y="42899"/>
                  </a:moveTo>
                  <a:lnTo>
                    <a:pt x="1339499" y="0"/>
                  </a:lnTo>
                </a:path>
                <a:path w="3410585" h="473075">
                  <a:moveTo>
                    <a:pt x="2617849" y="473049"/>
                  </a:moveTo>
                  <a:lnTo>
                    <a:pt x="3410449" y="460749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Stage</a:t>
            </a:r>
            <a:r>
              <a:rPr spc="-35" dirty="0"/>
              <a:t> </a:t>
            </a:r>
            <a:r>
              <a:rPr dirty="0"/>
              <a:t>2:</a:t>
            </a:r>
            <a:r>
              <a:rPr spc="-30" dirty="0"/>
              <a:t> </a:t>
            </a:r>
            <a:r>
              <a:rPr dirty="0"/>
              <a:t>Parallel</a:t>
            </a:r>
            <a:r>
              <a:rPr spc="-35" dirty="0"/>
              <a:t> </a:t>
            </a:r>
            <a:r>
              <a:rPr spc="-10" dirty="0"/>
              <a:t>Resynthesis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4" y="1286081"/>
            <a:ext cx="4568275" cy="12285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100"/>
              </a:spcBef>
              <a:buChar char="•"/>
              <a:tabLst>
                <a:tab pos="155575" algn="l"/>
              </a:tabLst>
            </a:pPr>
            <a:r>
              <a:rPr sz="1800" dirty="0">
                <a:latin typeface="Arial MT"/>
                <a:cs typeface="Arial MT"/>
              </a:rPr>
              <a:t>Resynthesize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collapsed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FFCs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parallel</a:t>
            </a:r>
            <a:endParaRPr sz="1800" dirty="0">
              <a:latin typeface="Arial MT"/>
              <a:cs typeface="Arial MT"/>
            </a:endParaRPr>
          </a:p>
          <a:p>
            <a:pPr marL="155575" indent="-142875">
              <a:lnSpc>
                <a:spcPct val="100000"/>
              </a:lnSpc>
              <a:spcBef>
                <a:spcPts val="1520"/>
              </a:spcBef>
              <a:buChar char="•"/>
              <a:tabLst>
                <a:tab pos="155575" algn="l"/>
              </a:tabLst>
            </a:pPr>
            <a:r>
              <a:rPr sz="1800" dirty="0">
                <a:latin typeface="Arial MT"/>
                <a:cs typeface="Arial MT"/>
              </a:rPr>
              <a:t>Compute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gain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after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resynthesis</a:t>
            </a:r>
            <a:endParaRPr sz="1800" dirty="0">
              <a:latin typeface="Arial MT"/>
              <a:cs typeface="Arial MT"/>
            </a:endParaRPr>
          </a:p>
          <a:p>
            <a:pPr marL="155575" indent="-142875">
              <a:lnSpc>
                <a:spcPct val="100000"/>
              </a:lnSpc>
              <a:spcBef>
                <a:spcPts val="1525"/>
              </a:spcBef>
              <a:buChar char="•"/>
              <a:tabLst>
                <a:tab pos="155575" algn="l"/>
              </a:tabLst>
            </a:pPr>
            <a:r>
              <a:rPr lang="en-US" altLang="zh-TW" dirty="0"/>
              <a:t>Keep positive-gain cones for replacement</a:t>
            </a:r>
            <a:endParaRPr sz="1800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01700" y="1307290"/>
            <a:ext cx="3211181" cy="26653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Stage</a:t>
            </a:r>
            <a:r>
              <a:rPr spc="-35" dirty="0"/>
              <a:t> </a:t>
            </a:r>
            <a:r>
              <a:rPr dirty="0"/>
              <a:t>3:</a:t>
            </a:r>
            <a:r>
              <a:rPr spc="-30" dirty="0"/>
              <a:t> </a:t>
            </a:r>
            <a:r>
              <a:rPr dirty="0"/>
              <a:t>Parallel</a:t>
            </a:r>
            <a:r>
              <a:rPr spc="-35" dirty="0"/>
              <a:t> </a:t>
            </a:r>
            <a:r>
              <a:rPr spc="-10" dirty="0"/>
              <a:t>Replacement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081606"/>
            <a:ext cx="5347335" cy="16979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1520"/>
              </a:spcBef>
              <a:buChar char="•"/>
              <a:tabLst>
                <a:tab pos="155575" algn="l"/>
              </a:tabLst>
            </a:pPr>
            <a:r>
              <a:rPr sz="1800" dirty="0">
                <a:latin typeface="Arial MT"/>
                <a:cs typeface="Arial MT"/>
              </a:rPr>
              <a:t>Insert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new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nodes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synchronously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10" dirty="0">
                <a:latin typeface="Arial MT"/>
                <a:cs typeface="Arial MT"/>
              </a:rPr>
              <a:t> parallel</a:t>
            </a:r>
            <a:endParaRPr sz="1800" dirty="0">
              <a:latin typeface="Arial MT"/>
              <a:cs typeface="Arial MT"/>
            </a:endParaRPr>
          </a:p>
          <a:p>
            <a:pPr marL="608330" lvl="1" indent="-138430">
              <a:lnSpc>
                <a:spcPct val="100000"/>
              </a:lnSpc>
              <a:spcBef>
                <a:spcPts val="1525"/>
              </a:spcBef>
              <a:buChar char="-"/>
              <a:tabLst>
                <a:tab pos="608330" algn="l"/>
              </a:tabLst>
            </a:pPr>
            <a:r>
              <a:rPr sz="1800" dirty="0">
                <a:latin typeface="Arial MT"/>
                <a:cs typeface="Arial MT"/>
              </a:rPr>
              <a:t>one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thread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per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cone</a:t>
            </a:r>
            <a:endParaRPr sz="1800" dirty="0">
              <a:latin typeface="Arial MT"/>
              <a:cs typeface="Arial MT"/>
            </a:endParaRPr>
          </a:p>
          <a:p>
            <a:pPr marL="608330" lvl="1" indent="-138430">
              <a:lnSpc>
                <a:spcPct val="100000"/>
              </a:lnSpc>
              <a:spcBef>
                <a:spcPts val="1525"/>
              </a:spcBef>
              <a:buChar char="-"/>
              <a:tabLst>
                <a:tab pos="608330" algn="l"/>
              </a:tabLst>
            </a:pPr>
            <a:r>
              <a:rPr sz="1800" dirty="0">
                <a:latin typeface="Arial MT"/>
                <a:cs typeface="Arial MT"/>
              </a:rPr>
              <a:t>global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synchronization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between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insertion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steps</a:t>
            </a:r>
            <a:endParaRPr sz="1800" dirty="0">
              <a:latin typeface="Arial MT"/>
              <a:cs typeface="Arial MT"/>
            </a:endParaRPr>
          </a:p>
          <a:p>
            <a:pPr marL="155575" indent="-142875">
              <a:lnSpc>
                <a:spcPct val="100000"/>
              </a:lnSpc>
              <a:spcBef>
                <a:spcPts val="1525"/>
              </a:spcBef>
              <a:buChar char="•"/>
              <a:tabLst>
                <a:tab pos="155575" algn="l"/>
              </a:tabLst>
            </a:pPr>
            <a:r>
              <a:rPr sz="1800" dirty="0">
                <a:latin typeface="Arial MT"/>
                <a:cs typeface="Arial MT"/>
              </a:rPr>
              <a:t>Replace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old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roots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with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new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roots</a:t>
            </a:r>
            <a:endParaRPr sz="1800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3036296"/>
            <a:ext cx="7924800" cy="160853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0" dirty="0"/>
              <a:t>GPU-</a:t>
            </a:r>
            <a:r>
              <a:rPr dirty="0"/>
              <a:t>Parallel</a:t>
            </a:r>
            <a:r>
              <a:rPr spc="10" dirty="0"/>
              <a:t> </a:t>
            </a:r>
            <a:r>
              <a:rPr spc="-10" dirty="0"/>
              <a:t>Hash-table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42875" indent="-130175">
              <a:lnSpc>
                <a:spcPct val="100000"/>
              </a:lnSpc>
              <a:spcBef>
                <a:spcPts val="130"/>
              </a:spcBef>
              <a:buChar char="•"/>
              <a:tabLst>
                <a:tab pos="142875" algn="l"/>
              </a:tabLst>
            </a:pPr>
            <a:r>
              <a:rPr dirty="0"/>
              <a:t>Structural</a:t>
            </a:r>
            <a:r>
              <a:rPr spc="25" dirty="0"/>
              <a:t> </a:t>
            </a:r>
            <a:r>
              <a:rPr spc="-10" dirty="0"/>
              <a:t>hashing</a:t>
            </a:r>
          </a:p>
          <a:p>
            <a:pPr marL="596265" lvl="1" indent="-126364">
              <a:lnSpc>
                <a:spcPct val="100000"/>
              </a:lnSpc>
              <a:spcBef>
                <a:spcPts val="1530"/>
              </a:spcBef>
              <a:buChar char="-"/>
              <a:tabLst>
                <a:tab pos="596265" algn="l"/>
              </a:tabLst>
            </a:pPr>
            <a:r>
              <a:rPr sz="1600" dirty="0">
                <a:latin typeface="Arial MT"/>
                <a:cs typeface="Arial MT"/>
              </a:rPr>
              <a:t>use</a:t>
            </a:r>
            <a:r>
              <a:rPr sz="1600" spc="6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fanins</a:t>
            </a:r>
            <a:r>
              <a:rPr sz="1600" spc="6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and</a:t>
            </a:r>
            <a:r>
              <a:rPr sz="1600" spc="6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inversion</a:t>
            </a:r>
            <a:r>
              <a:rPr sz="1600" spc="6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status</a:t>
            </a:r>
            <a:r>
              <a:rPr sz="1600" spc="6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as</a:t>
            </a:r>
            <a:r>
              <a:rPr sz="1600" spc="60" dirty="0"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keys</a:t>
            </a:r>
            <a:endParaRPr sz="1600">
              <a:latin typeface="Arial MT"/>
              <a:cs typeface="Arial MT"/>
            </a:endParaRPr>
          </a:p>
          <a:p>
            <a:pPr marL="596265" lvl="1" indent="-126364">
              <a:lnSpc>
                <a:spcPct val="100000"/>
              </a:lnSpc>
              <a:spcBef>
                <a:spcPts val="1525"/>
              </a:spcBef>
              <a:buChar char="-"/>
              <a:tabLst>
                <a:tab pos="596265" algn="l"/>
              </a:tabLst>
            </a:pPr>
            <a:r>
              <a:rPr sz="1600" dirty="0">
                <a:latin typeface="Arial MT"/>
                <a:cs typeface="Arial MT"/>
              </a:rPr>
              <a:t>avoid</a:t>
            </a:r>
            <a:r>
              <a:rPr sz="1600" spc="7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duplicated</a:t>
            </a:r>
            <a:r>
              <a:rPr sz="1600" spc="7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nodes</a:t>
            </a:r>
            <a:r>
              <a:rPr sz="1600" spc="7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and</a:t>
            </a:r>
            <a:r>
              <a:rPr sz="1600" spc="7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enable</a:t>
            </a:r>
            <a:r>
              <a:rPr sz="1600" spc="7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logic</a:t>
            </a:r>
            <a:r>
              <a:rPr sz="1600" spc="7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sharing</a:t>
            </a:r>
            <a:endParaRPr sz="1600">
              <a:latin typeface="Arial MT"/>
              <a:cs typeface="Arial MT"/>
            </a:endParaRPr>
          </a:p>
          <a:p>
            <a:pPr marL="142875" indent="-130175">
              <a:lnSpc>
                <a:spcPct val="100000"/>
              </a:lnSpc>
              <a:spcBef>
                <a:spcPts val="1530"/>
              </a:spcBef>
              <a:buChar char="•"/>
              <a:tabLst>
                <a:tab pos="142875" algn="l"/>
              </a:tabLst>
            </a:pPr>
            <a:r>
              <a:rPr dirty="0"/>
              <a:t>Insertion</a:t>
            </a:r>
            <a:r>
              <a:rPr spc="25" dirty="0"/>
              <a:t> </a:t>
            </a:r>
            <a:r>
              <a:rPr spc="-10" dirty="0"/>
              <a:t>issue</a:t>
            </a:r>
          </a:p>
          <a:p>
            <a:pPr marL="596265" lvl="1" indent="-126364">
              <a:lnSpc>
                <a:spcPct val="100000"/>
              </a:lnSpc>
              <a:spcBef>
                <a:spcPts val="1530"/>
              </a:spcBef>
              <a:buChar char="-"/>
              <a:tabLst>
                <a:tab pos="596265" algn="l"/>
              </a:tabLst>
            </a:pPr>
            <a:r>
              <a:rPr sz="1600" dirty="0">
                <a:latin typeface="Arial MT"/>
                <a:cs typeface="Arial MT"/>
              </a:rPr>
              <a:t>the</a:t>
            </a:r>
            <a:r>
              <a:rPr sz="1600" spc="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same</a:t>
            </a:r>
            <a:r>
              <a:rPr sz="1600" spc="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key</a:t>
            </a:r>
            <a:r>
              <a:rPr sz="1600" spc="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may</a:t>
            </a:r>
            <a:r>
              <a:rPr sz="1600" spc="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be</a:t>
            </a:r>
            <a:r>
              <a:rPr sz="1600" spc="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inserted</a:t>
            </a:r>
            <a:r>
              <a:rPr sz="1600" spc="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more</a:t>
            </a:r>
            <a:r>
              <a:rPr sz="1600" spc="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than</a:t>
            </a:r>
            <a:r>
              <a:rPr sz="1600" spc="30" dirty="0"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once</a:t>
            </a:r>
            <a:endParaRPr sz="1600">
              <a:latin typeface="Arial MT"/>
              <a:cs typeface="Arial MT"/>
            </a:endParaRPr>
          </a:p>
          <a:p>
            <a:pPr marL="142875" indent="-130175">
              <a:lnSpc>
                <a:spcPct val="100000"/>
              </a:lnSpc>
              <a:spcBef>
                <a:spcPts val="1530"/>
              </a:spcBef>
              <a:buChar char="•"/>
              <a:tabLst>
                <a:tab pos="142875" algn="l"/>
              </a:tabLst>
            </a:pPr>
            <a:r>
              <a:rPr dirty="0"/>
              <a:t>GPU</a:t>
            </a:r>
            <a:r>
              <a:rPr spc="85" dirty="0"/>
              <a:t> </a:t>
            </a:r>
            <a:r>
              <a:rPr dirty="0"/>
              <a:t>hash-table</a:t>
            </a:r>
            <a:r>
              <a:rPr spc="85" dirty="0"/>
              <a:t> </a:t>
            </a:r>
            <a:r>
              <a:rPr spc="-10" dirty="0"/>
              <a:t>solution</a:t>
            </a:r>
          </a:p>
          <a:p>
            <a:pPr marL="596265" lvl="1" indent="-126364">
              <a:lnSpc>
                <a:spcPct val="100000"/>
              </a:lnSpc>
              <a:spcBef>
                <a:spcPts val="1530"/>
              </a:spcBef>
              <a:buChar char="-"/>
              <a:tabLst>
                <a:tab pos="596265" algn="l"/>
              </a:tabLst>
            </a:pPr>
            <a:r>
              <a:rPr sz="1600" dirty="0">
                <a:latin typeface="Arial MT"/>
                <a:cs typeface="Arial MT"/>
              </a:rPr>
              <a:t>supporting</a:t>
            </a:r>
            <a:r>
              <a:rPr sz="1600" spc="6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batched</a:t>
            </a:r>
            <a:r>
              <a:rPr sz="1600" spc="6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node</a:t>
            </a:r>
            <a:r>
              <a:rPr sz="1600" spc="7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insertion</a:t>
            </a:r>
            <a:r>
              <a:rPr sz="1600" spc="6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and</a:t>
            </a:r>
            <a:r>
              <a:rPr sz="1600" spc="7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retrieval</a:t>
            </a:r>
            <a:endParaRPr sz="16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09950" y="1756617"/>
            <a:ext cx="3457624" cy="212695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Background</a:t>
            </a:r>
            <a:r>
              <a:rPr spc="-30" dirty="0"/>
              <a:t> </a:t>
            </a:r>
            <a:r>
              <a:rPr dirty="0"/>
              <a:t>-</a:t>
            </a:r>
            <a:r>
              <a:rPr spc="-160" dirty="0"/>
              <a:t> </a:t>
            </a:r>
            <a:r>
              <a:rPr dirty="0"/>
              <a:t>AIG</a:t>
            </a:r>
            <a:r>
              <a:rPr spc="-15" dirty="0"/>
              <a:t> </a:t>
            </a:r>
            <a:r>
              <a:rPr spc="-10" dirty="0"/>
              <a:t>Balancing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35161"/>
            <a:ext cx="4643755" cy="3398366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36525" indent="-123825">
              <a:lnSpc>
                <a:spcPct val="100000"/>
              </a:lnSpc>
              <a:spcBef>
                <a:spcPts val="120"/>
              </a:spcBef>
              <a:buChar char="•"/>
              <a:tabLst>
                <a:tab pos="136525" algn="l"/>
              </a:tabLst>
            </a:pPr>
            <a:r>
              <a:rPr sz="1600" dirty="0">
                <a:latin typeface="Arial MT"/>
                <a:cs typeface="Arial MT"/>
              </a:rPr>
              <a:t>Balancing</a:t>
            </a:r>
            <a:r>
              <a:rPr sz="1600" spc="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reduces</a:t>
            </a:r>
            <a:r>
              <a:rPr sz="1600" spc="-6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AIG</a:t>
            </a:r>
            <a:r>
              <a:rPr sz="1600" spc="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level</a:t>
            </a:r>
            <a:r>
              <a:rPr sz="1600" spc="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/</a:t>
            </a:r>
            <a:r>
              <a:rPr sz="1600" spc="2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delay</a:t>
            </a:r>
            <a:endParaRPr sz="1600" dirty="0">
              <a:latin typeface="Arial MT"/>
              <a:cs typeface="Arial MT"/>
            </a:endParaRPr>
          </a:p>
          <a:p>
            <a:pPr marL="136525" indent="-123825">
              <a:lnSpc>
                <a:spcPct val="100000"/>
              </a:lnSpc>
              <a:spcBef>
                <a:spcPts val="1320"/>
              </a:spcBef>
              <a:buChar char="•"/>
              <a:tabLst>
                <a:tab pos="136525" algn="l"/>
              </a:tabLst>
            </a:pPr>
            <a:r>
              <a:rPr sz="1600" spc="-10" dirty="0">
                <a:latin typeface="Arial MT"/>
                <a:cs typeface="Arial MT"/>
              </a:rPr>
              <a:t>Collapse</a:t>
            </a:r>
            <a:endParaRPr sz="1600" dirty="0">
              <a:latin typeface="Arial MT"/>
              <a:cs typeface="Arial MT"/>
            </a:endParaRPr>
          </a:p>
          <a:p>
            <a:pPr marL="589915" lvl="1" indent="-120014">
              <a:lnSpc>
                <a:spcPct val="100000"/>
              </a:lnSpc>
              <a:spcBef>
                <a:spcPts val="1325"/>
              </a:spcBef>
              <a:buChar char="-"/>
              <a:tabLst>
                <a:tab pos="589915" algn="l"/>
              </a:tabLst>
            </a:pPr>
            <a:r>
              <a:rPr sz="1600" dirty="0">
                <a:latin typeface="Arial MT"/>
                <a:cs typeface="Arial MT"/>
              </a:rPr>
              <a:t>identify</a:t>
            </a:r>
            <a:r>
              <a:rPr sz="1600" spc="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n-input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AND-tree</a:t>
            </a:r>
            <a:r>
              <a:rPr sz="1600" spc="3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structures</a:t>
            </a:r>
            <a:endParaRPr sz="1600" dirty="0">
              <a:latin typeface="Arial MT"/>
              <a:cs typeface="Arial MT"/>
            </a:endParaRPr>
          </a:p>
          <a:p>
            <a:pPr marL="589915" lvl="1" indent="-120014">
              <a:lnSpc>
                <a:spcPct val="100000"/>
              </a:lnSpc>
              <a:spcBef>
                <a:spcPts val="1320"/>
              </a:spcBef>
              <a:buChar char="-"/>
              <a:tabLst>
                <a:tab pos="589915" algn="l"/>
              </a:tabLst>
            </a:pPr>
            <a:r>
              <a:rPr sz="1600" dirty="0">
                <a:latin typeface="Arial MT"/>
                <a:cs typeface="Arial MT"/>
              </a:rPr>
              <a:t>e.g.,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node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3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→</a:t>
            </a:r>
            <a:r>
              <a:rPr sz="1600" spc="-7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AND(d,e,f,g)</a:t>
            </a:r>
            <a:endParaRPr sz="1600" dirty="0">
              <a:latin typeface="Arial MT"/>
              <a:cs typeface="Arial MT"/>
            </a:endParaRPr>
          </a:p>
          <a:p>
            <a:pPr marL="136525" indent="-123825">
              <a:lnSpc>
                <a:spcPct val="100000"/>
              </a:lnSpc>
              <a:spcBef>
                <a:spcPts val="1320"/>
              </a:spcBef>
              <a:buChar char="•"/>
              <a:tabLst>
                <a:tab pos="136525" algn="l"/>
              </a:tabLst>
            </a:pPr>
            <a:r>
              <a:rPr sz="1600" dirty="0">
                <a:latin typeface="Arial MT"/>
                <a:cs typeface="Arial MT"/>
              </a:rPr>
              <a:t>Recursive</a:t>
            </a:r>
            <a:r>
              <a:rPr sz="1600" spc="2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balancing</a:t>
            </a:r>
            <a:endParaRPr sz="1600" dirty="0">
              <a:latin typeface="Arial MT"/>
              <a:cs typeface="Arial MT"/>
            </a:endParaRPr>
          </a:p>
          <a:p>
            <a:pPr marL="589915" lvl="1" indent="-120014">
              <a:lnSpc>
                <a:spcPct val="100000"/>
              </a:lnSpc>
              <a:spcBef>
                <a:spcPts val="1325"/>
              </a:spcBef>
              <a:buChar char="-"/>
              <a:tabLst>
                <a:tab pos="589915" algn="l"/>
              </a:tabLst>
            </a:pPr>
            <a:r>
              <a:rPr sz="1600" dirty="0">
                <a:latin typeface="Arial MT"/>
                <a:cs typeface="Arial MT"/>
              </a:rPr>
              <a:t>balance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cut</a:t>
            </a:r>
            <a:r>
              <a:rPr sz="1600" spc="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nodes</a:t>
            </a:r>
            <a:r>
              <a:rPr sz="1600" spc="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and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obtain</a:t>
            </a:r>
            <a:r>
              <a:rPr sz="1600" spc="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their</a:t>
            </a:r>
            <a:r>
              <a:rPr sz="1600" spc="2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delays</a:t>
            </a:r>
            <a:endParaRPr sz="1600" dirty="0">
              <a:latin typeface="Arial MT"/>
              <a:cs typeface="Arial MT"/>
            </a:endParaRPr>
          </a:p>
          <a:p>
            <a:pPr marL="136525" indent="-123825">
              <a:lnSpc>
                <a:spcPct val="100000"/>
              </a:lnSpc>
              <a:spcBef>
                <a:spcPts val="1320"/>
              </a:spcBef>
              <a:buChar char="•"/>
              <a:tabLst>
                <a:tab pos="136525" algn="l"/>
              </a:tabLst>
            </a:pPr>
            <a:r>
              <a:rPr sz="1600" spc="-10" dirty="0">
                <a:latin typeface="Arial MT"/>
                <a:cs typeface="Arial MT"/>
              </a:rPr>
              <a:t>Reconstruction</a:t>
            </a:r>
            <a:endParaRPr sz="1600" dirty="0">
              <a:latin typeface="Arial MT"/>
              <a:cs typeface="Arial MT"/>
            </a:endParaRPr>
          </a:p>
          <a:p>
            <a:pPr marL="589915" lvl="1" indent="-120014">
              <a:lnSpc>
                <a:spcPct val="100000"/>
              </a:lnSpc>
              <a:spcBef>
                <a:spcPts val="1320"/>
              </a:spcBef>
              <a:buChar char="-"/>
              <a:tabLst>
                <a:tab pos="589915" algn="l"/>
              </a:tabLst>
            </a:pPr>
            <a:r>
              <a:rPr sz="1600" dirty="0">
                <a:latin typeface="Arial MT"/>
                <a:cs typeface="Arial MT"/>
              </a:rPr>
              <a:t>rebuild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7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AND-tree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ascending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delay</a:t>
            </a:r>
            <a:r>
              <a:rPr sz="1600" spc="2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order</a:t>
            </a:r>
            <a:endParaRPr sz="1600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88000" y="1056401"/>
            <a:ext cx="3948601" cy="22038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GPU-</a:t>
            </a:r>
            <a:r>
              <a:rPr dirty="0"/>
              <a:t>Parallel</a:t>
            </a:r>
            <a:r>
              <a:rPr spc="-20" dirty="0"/>
              <a:t> </a:t>
            </a:r>
            <a:r>
              <a:rPr spc="-10" dirty="0"/>
              <a:t>Balancing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067303"/>
            <a:ext cx="4966335" cy="3133090"/>
          </a:xfrm>
          <a:prstGeom prst="rect">
            <a:avLst/>
          </a:prstGeom>
        </p:spPr>
        <p:txBody>
          <a:bodyPr vert="horz" wrap="square" lIns="0" tIns="156210" rIns="0" bIns="0" rtlCol="0">
            <a:spAutoFit/>
          </a:bodyPr>
          <a:lstStyle/>
          <a:p>
            <a:pPr marL="142875" indent="-130175">
              <a:lnSpc>
                <a:spcPct val="100000"/>
              </a:lnSpc>
              <a:spcBef>
                <a:spcPts val="1230"/>
              </a:spcBef>
              <a:buChar char="•"/>
              <a:tabLst>
                <a:tab pos="142875" algn="l"/>
              </a:tabLst>
            </a:pPr>
            <a:r>
              <a:rPr sz="1600" dirty="0">
                <a:latin typeface="Arial MT"/>
                <a:cs typeface="Arial MT"/>
              </a:rPr>
              <a:t>Stage</a:t>
            </a:r>
            <a:r>
              <a:rPr sz="1600" spc="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1:</a:t>
            </a:r>
            <a:r>
              <a:rPr sz="1600" spc="4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Collapse</a:t>
            </a:r>
            <a:endParaRPr sz="1600" dirty="0">
              <a:latin typeface="Arial MT"/>
              <a:cs typeface="Arial MT"/>
            </a:endParaRPr>
          </a:p>
          <a:p>
            <a:pPr marL="596265" lvl="1" indent="-126364">
              <a:lnSpc>
                <a:spcPct val="100000"/>
              </a:lnSpc>
              <a:spcBef>
                <a:spcPts val="1140"/>
              </a:spcBef>
              <a:buChar char="-"/>
              <a:tabLst>
                <a:tab pos="596265" algn="l"/>
              </a:tabLst>
            </a:pPr>
            <a:r>
              <a:rPr sz="1600" dirty="0">
                <a:latin typeface="Arial MT"/>
                <a:cs typeface="Arial MT"/>
              </a:rPr>
              <a:t>identify</a:t>
            </a:r>
            <a:r>
              <a:rPr sz="1600" spc="6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n-input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AND</a:t>
            </a:r>
            <a:r>
              <a:rPr sz="1600" spc="7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subtrees</a:t>
            </a:r>
            <a:endParaRPr sz="1600" dirty="0">
              <a:latin typeface="Arial MT"/>
              <a:cs typeface="Arial MT"/>
            </a:endParaRPr>
          </a:p>
          <a:p>
            <a:pPr marL="596265" lvl="1" indent="-126364">
              <a:lnSpc>
                <a:spcPct val="100000"/>
              </a:lnSpc>
              <a:spcBef>
                <a:spcPts val="1135"/>
              </a:spcBef>
              <a:buChar char="-"/>
              <a:tabLst>
                <a:tab pos="596265" algn="l"/>
              </a:tabLst>
            </a:pPr>
            <a:r>
              <a:rPr sz="1600" dirty="0">
                <a:latin typeface="Arial MT"/>
                <a:cs typeface="Arial MT"/>
              </a:rPr>
              <a:t>process</a:t>
            </a:r>
            <a:r>
              <a:rPr sz="1600" spc="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level</a:t>
            </a:r>
            <a:r>
              <a:rPr sz="1600" spc="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by</a:t>
            </a:r>
            <a:r>
              <a:rPr sz="1600" spc="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level</a:t>
            </a:r>
            <a:r>
              <a:rPr sz="1600" spc="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from</a:t>
            </a:r>
            <a:r>
              <a:rPr sz="1600" spc="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POs</a:t>
            </a:r>
            <a:r>
              <a:rPr sz="1600" spc="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40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PIs</a:t>
            </a:r>
            <a:endParaRPr sz="1600" dirty="0">
              <a:latin typeface="Arial MT"/>
              <a:cs typeface="Arial MT"/>
            </a:endParaRPr>
          </a:p>
          <a:p>
            <a:pPr marL="596265" lvl="1" indent="-126364">
              <a:lnSpc>
                <a:spcPct val="100000"/>
              </a:lnSpc>
              <a:spcBef>
                <a:spcPts val="1140"/>
              </a:spcBef>
              <a:buChar char="-"/>
              <a:tabLst>
                <a:tab pos="596265" algn="l"/>
              </a:tabLst>
            </a:pPr>
            <a:r>
              <a:rPr sz="1600" dirty="0">
                <a:latin typeface="Arial MT"/>
                <a:cs typeface="Arial MT"/>
              </a:rPr>
              <a:t>store</a:t>
            </a:r>
            <a:r>
              <a:rPr sz="1600" spc="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collapsed</a:t>
            </a:r>
            <a:r>
              <a:rPr sz="1600" spc="5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subtrees</a:t>
            </a:r>
            <a:r>
              <a:rPr sz="1600" spc="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for</a:t>
            </a:r>
            <a:r>
              <a:rPr sz="1600" spc="5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reconstruction</a:t>
            </a:r>
            <a:endParaRPr sz="1600" dirty="0">
              <a:latin typeface="Arial MT"/>
              <a:cs typeface="Arial MT"/>
            </a:endParaRPr>
          </a:p>
          <a:p>
            <a:pPr marL="142875" indent="-130175">
              <a:lnSpc>
                <a:spcPct val="100000"/>
              </a:lnSpc>
              <a:spcBef>
                <a:spcPts val="1140"/>
              </a:spcBef>
              <a:buChar char="•"/>
              <a:tabLst>
                <a:tab pos="142875" algn="l"/>
              </a:tabLst>
            </a:pPr>
            <a:r>
              <a:rPr sz="1600" dirty="0">
                <a:latin typeface="Arial MT"/>
                <a:cs typeface="Arial MT"/>
              </a:rPr>
              <a:t>Stage</a:t>
            </a:r>
            <a:r>
              <a:rPr sz="1600" spc="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2:</a:t>
            </a:r>
            <a:r>
              <a:rPr sz="1600" spc="4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Reconstruction</a:t>
            </a:r>
            <a:endParaRPr sz="1600" dirty="0">
              <a:latin typeface="Arial MT"/>
              <a:cs typeface="Arial MT"/>
            </a:endParaRPr>
          </a:p>
          <a:p>
            <a:pPr marL="596265" lvl="1" indent="-126364">
              <a:lnSpc>
                <a:spcPct val="100000"/>
              </a:lnSpc>
              <a:spcBef>
                <a:spcPts val="1135"/>
              </a:spcBef>
              <a:buChar char="-"/>
              <a:tabLst>
                <a:tab pos="596265" algn="l"/>
              </a:tabLst>
            </a:pPr>
            <a:r>
              <a:rPr sz="1600" dirty="0">
                <a:latin typeface="Arial MT"/>
                <a:cs typeface="Arial MT"/>
              </a:rPr>
              <a:t>rebuild</a:t>
            </a:r>
            <a:r>
              <a:rPr sz="1600" spc="8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collapsed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AND</a:t>
            </a:r>
            <a:r>
              <a:rPr sz="1600" spc="8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subtrees</a:t>
            </a:r>
            <a:endParaRPr sz="1600" dirty="0">
              <a:latin typeface="Arial MT"/>
              <a:cs typeface="Arial MT"/>
            </a:endParaRPr>
          </a:p>
          <a:p>
            <a:pPr marL="596265" lvl="1" indent="-126364">
              <a:lnSpc>
                <a:spcPct val="100000"/>
              </a:lnSpc>
              <a:spcBef>
                <a:spcPts val="1140"/>
              </a:spcBef>
              <a:buChar char="-"/>
              <a:tabLst>
                <a:tab pos="596265" algn="l"/>
              </a:tabLst>
            </a:pPr>
            <a:r>
              <a:rPr sz="1600" dirty="0">
                <a:latin typeface="Arial MT"/>
                <a:cs typeface="Arial MT"/>
              </a:rPr>
              <a:t>process</a:t>
            </a:r>
            <a:r>
              <a:rPr sz="1600" spc="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level</a:t>
            </a:r>
            <a:r>
              <a:rPr sz="1600" spc="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by</a:t>
            </a:r>
            <a:r>
              <a:rPr sz="1600" spc="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level</a:t>
            </a:r>
            <a:r>
              <a:rPr sz="1600" spc="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from</a:t>
            </a:r>
            <a:r>
              <a:rPr sz="1600" spc="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PIs</a:t>
            </a:r>
            <a:r>
              <a:rPr sz="1600" spc="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40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POs</a:t>
            </a:r>
            <a:endParaRPr sz="1600" dirty="0">
              <a:latin typeface="Arial MT"/>
              <a:cs typeface="Arial MT"/>
            </a:endParaRPr>
          </a:p>
          <a:p>
            <a:pPr marL="596265" lvl="1" indent="-126364">
              <a:lnSpc>
                <a:spcPct val="100000"/>
              </a:lnSpc>
              <a:spcBef>
                <a:spcPts val="1140"/>
              </a:spcBef>
              <a:buChar char="-"/>
              <a:tabLst>
                <a:tab pos="596265" algn="l"/>
              </a:tabLst>
            </a:pPr>
            <a:r>
              <a:rPr sz="1600" dirty="0">
                <a:latin typeface="Arial MT"/>
                <a:cs typeface="Arial MT"/>
              </a:rPr>
              <a:t>reconstruct</a:t>
            </a:r>
            <a:r>
              <a:rPr sz="1600" spc="6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same-level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AND</a:t>
            </a:r>
            <a:r>
              <a:rPr sz="1600" spc="6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subtrees</a:t>
            </a:r>
            <a:r>
              <a:rPr sz="1600" spc="6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</a:t>
            </a:r>
            <a:r>
              <a:rPr sz="1600" spc="6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parallel</a:t>
            </a:r>
            <a:endParaRPr sz="1600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39900" y="1017724"/>
            <a:ext cx="3918201" cy="29386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Experimental</a:t>
            </a:r>
            <a:r>
              <a:rPr spc="-55" dirty="0"/>
              <a:t> </a:t>
            </a:r>
            <a:r>
              <a:rPr spc="-10" dirty="0"/>
              <a:t>Setup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083130"/>
            <a:ext cx="5805805" cy="37061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0810" indent="-118110">
              <a:lnSpc>
                <a:spcPct val="100000"/>
              </a:lnSpc>
              <a:spcBef>
                <a:spcPts val="100"/>
              </a:spcBef>
              <a:buChar char="•"/>
              <a:tabLst>
                <a:tab pos="130810" algn="l"/>
              </a:tabLst>
            </a:pPr>
            <a:r>
              <a:rPr lang="en-US" sz="1600" spc="-10" dirty="0">
                <a:latin typeface="Arial MT"/>
                <a:cs typeface="Arial MT"/>
              </a:rPr>
              <a:t>Baseline:</a:t>
            </a:r>
            <a:endParaRPr lang="en-US" sz="1600" dirty="0">
              <a:latin typeface="Arial MT"/>
              <a:cs typeface="Arial MT"/>
            </a:endParaRPr>
          </a:p>
          <a:p>
            <a:pPr marL="584835" lvl="1" indent="-114935">
              <a:lnSpc>
                <a:spcPct val="100000"/>
              </a:lnSpc>
              <a:spcBef>
                <a:spcPts val="1200"/>
              </a:spcBef>
              <a:buChar char="-"/>
              <a:tabLst>
                <a:tab pos="584835" algn="l"/>
              </a:tabLst>
            </a:pPr>
            <a:r>
              <a:rPr lang="en-US" sz="1600" spc="-10" dirty="0">
                <a:latin typeface="Arial MT"/>
                <a:cs typeface="Arial MT"/>
              </a:rPr>
              <a:t>original</a:t>
            </a:r>
            <a:r>
              <a:rPr lang="en-US" sz="1600" spc="-95" dirty="0">
                <a:latin typeface="Arial MT"/>
                <a:cs typeface="Arial MT"/>
              </a:rPr>
              <a:t> </a:t>
            </a:r>
            <a:r>
              <a:rPr lang="en-US" sz="1600" dirty="0">
                <a:latin typeface="Arial MT"/>
                <a:cs typeface="Arial MT"/>
              </a:rPr>
              <a:t>ABC</a:t>
            </a:r>
            <a:r>
              <a:rPr lang="en-US" sz="1600" spc="-60" dirty="0">
                <a:latin typeface="Arial MT"/>
                <a:cs typeface="Arial MT"/>
              </a:rPr>
              <a:t> </a:t>
            </a:r>
            <a:r>
              <a:rPr lang="en-US" sz="1600" spc="-10" dirty="0">
                <a:latin typeface="Arial MT"/>
                <a:cs typeface="Arial MT"/>
              </a:rPr>
              <a:t>sequential</a:t>
            </a:r>
            <a:r>
              <a:rPr lang="en-US" sz="1600" spc="-30" dirty="0">
                <a:latin typeface="Arial MT"/>
                <a:cs typeface="Arial MT"/>
              </a:rPr>
              <a:t> </a:t>
            </a:r>
            <a:r>
              <a:rPr lang="en-US" sz="1600" b="1" dirty="0">
                <a:latin typeface="Arial"/>
                <a:cs typeface="Arial"/>
              </a:rPr>
              <a:t>resyn2</a:t>
            </a:r>
            <a:r>
              <a:rPr lang="en-US" sz="1600" b="1" spc="-40" dirty="0">
                <a:latin typeface="Arial"/>
                <a:cs typeface="Arial"/>
              </a:rPr>
              <a:t> </a:t>
            </a:r>
            <a:r>
              <a:rPr lang="en-US" sz="1600" spc="-20" dirty="0">
                <a:latin typeface="Arial MT"/>
                <a:cs typeface="Arial MT"/>
              </a:rPr>
              <a:t>flow</a:t>
            </a:r>
            <a:endParaRPr lang="en-US" sz="1600" dirty="0">
              <a:latin typeface="Arial MT"/>
              <a:cs typeface="Arial MT"/>
            </a:endParaRPr>
          </a:p>
          <a:p>
            <a:pPr marL="130810" indent="-118110">
              <a:lnSpc>
                <a:spcPct val="100000"/>
              </a:lnSpc>
              <a:spcBef>
                <a:spcPts val="1200"/>
              </a:spcBef>
              <a:buChar char="•"/>
              <a:tabLst>
                <a:tab pos="130810" algn="l"/>
              </a:tabLst>
            </a:pPr>
            <a:r>
              <a:rPr lang="en-US" sz="1600" spc="-10" dirty="0">
                <a:latin typeface="Arial MT"/>
                <a:cs typeface="Arial MT"/>
              </a:rPr>
              <a:t>Benchmarks:</a:t>
            </a:r>
            <a:endParaRPr lang="en-US" sz="1600" dirty="0">
              <a:latin typeface="Arial MT"/>
              <a:cs typeface="Arial MT"/>
            </a:endParaRPr>
          </a:p>
          <a:p>
            <a:pPr marL="584835" lvl="1" indent="-114935">
              <a:lnSpc>
                <a:spcPct val="100000"/>
              </a:lnSpc>
              <a:spcBef>
                <a:spcPts val="1200"/>
              </a:spcBef>
              <a:buChar char="-"/>
              <a:tabLst>
                <a:tab pos="584835" algn="l"/>
              </a:tabLst>
            </a:pPr>
            <a:r>
              <a:rPr lang="en-US" sz="1600" dirty="0">
                <a:latin typeface="Arial MT"/>
                <a:cs typeface="Arial MT"/>
              </a:rPr>
              <a:t>enlarged</a:t>
            </a:r>
            <a:r>
              <a:rPr lang="en-US" sz="1600" spc="-65" dirty="0">
                <a:latin typeface="Arial MT"/>
                <a:cs typeface="Arial MT"/>
              </a:rPr>
              <a:t> </a:t>
            </a:r>
            <a:r>
              <a:rPr lang="en-US" sz="1600" dirty="0">
                <a:latin typeface="Arial MT"/>
                <a:cs typeface="Arial MT"/>
              </a:rPr>
              <a:t>EPFL</a:t>
            </a:r>
            <a:r>
              <a:rPr lang="en-US" sz="1600" spc="-100" dirty="0">
                <a:latin typeface="Arial MT"/>
                <a:cs typeface="Arial MT"/>
              </a:rPr>
              <a:t> </a:t>
            </a:r>
            <a:r>
              <a:rPr lang="en-US" sz="1600" spc="-10" dirty="0">
                <a:latin typeface="Arial MT"/>
                <a:cs typeface="Arial MT"/>
              </a:rPr>
              <a:t>combinational</a:t>
            </a:r>
            <a:r>
              <a:rPr lang="en-US" sz="1600" spc="-60" dirty="0">
                <a:latin typeface="Arial MT"/>
                <a:cs typeface="Arial MT"/>
              </a:rPr>
              <a:t> </a:t>
            </a:r>
            <a:r>
              <a:rPr lang="en-US" sz="1600" dirty="0">
                <a:latin typeface="Arial MT"/>
                <a:cs typeface="Arial MT"/>
              </a:rPr>
              <a:t>benchmark</a:t>
            </a:r>
            <a:r>
              <a:rPr lang="en-US" sz="1600" spc="-60" dirty="0">
                <a:latin typeface="Arial MT"/>
                <a:cs typeface="Arial MT"/>
              </a:rPr>
              <a:t> </a:t>
            </a:r>
            <a:r>
              <a:rPr lang="en-US" sz="1600" spc="-10" dirty="0">
                <a:latin typeface="Arial MT"/>
                <a:cs typeface="Arial MT"/>
              </a:rPr>
              <a:t>suite</a:t>
            </a:r>
            <a:endParaRPr lang="en-US" sz="1600" dirty="0">
              <a:latin typeface="Arial MT"/>
              <a:cs typeface="Arial MT"/>
            </a:endParaRPr>
          </a:p>
          <a:p>
            <a:pPr marL="584835" lvl="1" indent="-114935">
              <a:lnSpc>
                <a:spcPct val="100000"/>
              </a:lnSpc>
              <a:spcBef>
                <a:spcPts val="1200"/>
              </a:spcBef>
              <a:buChar char="-"/>
              <a:tabLst>
                <a:tab pos="584835" algn="l"/>
              </a:tabLst>
            </a:pPr>
            <a:r>
              <a:rPr lang="en-US" sz="1600" dirty="0">
                <a:latin typeface="Arial MT"/>
                <a:cs typeface="Arial MT"/>
              </a:rPr>
              <a:t>enlarged</a:t>
            </a:r>
            <a:r>
              <a:rPr lang="en-US" sz="1600" spc="-55" dirty="0">
                <a:latin typeface="Arial MT"/>
                <a:cs typeface="Arial MT"/>
              </a:rPr>
              <a:t> </a:t>
            </a:r>
            <a:r>
              <a:rPr lang="en-US" sz="1600" dirty="0">
                <a:latin typeface="Arial MT"/>
                <a:cs typeface="Arial MT"/>
              </a:rPr>
              <a:t>control</a:t>
            </a:r>
            <a:r>
              <a:rPr lang="en-US" sz="1600" spc="-55" dirty="0">
                <a:latin typeface="Arial MT"/>
                <a:cs typeface="Arial MT"/>
              </a:rPr>
              <a:t> </a:t>
            </a:r>
            <a:r>
              <a:rPr lang="en-US" sz="1600" dirty="0">
                <a:latin typeface="Arial MT"/>
                <a:cs typeface="Arial MT"/>
              </a:rPr>
              <a:t>circuits</a:t>
            </a:r>
            <a:r>
              <a:rPr lang="en-US" sz="1600" spc="-50" dirty="0">
                <a:latin typeface="Arial MT"/>
                <a:cs typeface="Arial MT"/>
              </a:rPr>
              <a:t> </a:t>
            </a:r>
            <a:r>
              <a:rPr lang="en-US" sz="1600" dirty="0">
                <a:latin typeface="Arial MT"/>
                <a:cs typeface="Arial MT"/>
              </a:rPr>
              <a:t>from</a:t>
            </a:r>
            <a:r>
              <a:rPr lang="en-US" sz="1600" spc="-55" dirty="0">
                <a:latin typeface="Arial MT"/>
                <a:cs typeface="Arial MT"/>
              </a:rPr>
              <a:t> </a:t>
            </a:r>
            <a:r>
              <a:rPr lang="en-US" sz="1600" dirty="0">
                <a:latin typeface="Arial MT"/>
                <a:cs typeface="Arial MT"/>
              </a:rPr>
              <a:t>the</a:t>
            </a:r>
            <a:r>
              <a:rPr lang="en-US" sz="1600" spc="-55" dirty="0">
                <a:latin typeface="Arial MT"/>
                <a:cs typeface="Arial MT"/>
              </a:rPr>
              <a:t> </a:t>
            </a:r>
            <a:r>
              <a:rPr lang="en-US" sz="1600" dirty="0">
                <a:latin typeface="Arial MT"/>
                <a:cs typeface="Arial MT"/>
              </a:rPr>
              <a:t>IWLS</a:t>
            </a:r>
            <a:r>
              <a:rPr lang="en-US" sz="1600" spc="-50" dirty="0">
                <a:latin typeface="Arial MT"/>
                <a:cs typeface="Arial MT"/>
              </a:rPr>
              <a:t> </a:t>
            </a:r>
            <a:r>
              <a:rPr lang="en-US" sz="1600" dirty="0">
                <a:latin typeface="Arial MT"/>
                <a:cs typeface="Arial MT"/>
              </a:rPr>
              <a:t>2005</a:t>
            </a:r>
            <a:r>
              <a:rPr lang="en-US" sz="1600" spc="-55" dirty="0">
                <a:latin typeface="Arial MT"/>
                <a:cs typeface="Arial MT"/>
              </a:rPr>
              <a:t> </a:t>
            </a:r>
            <a:r>
              <a:rPr lang="en-US" sz="1600" dirty="0">
                <a:latin typeface="Arial MT"/>
                <a:cs typeface="Arial MT"/>
              </a:rPr>
              <a:t>benchmark</a:t>
            </a:r>
            <a:r>
              <a:rPr lang="en-US" sz="1600" spc="-50" dirty="0">
                <a:latin typeface="Arial MT"/>
                <a:cs typeface="Arial MT"/>
              </a:rPr>
              <a:t> </a:t>
            </a:r>
            <a:r>
              <a:rPr lang="en-US" sz="1600" spc="-10" dirty="0">
                <a:latin typeface="Arial MT"/>
                <a:cs typeface="Arial MT"/>
              </a:rPr>
              <a:t>suite</a:t>
            </a:r>
            <a:endParaRPr lang="en-US" sz="1600" dirty="0">
              <a:latin typeface="Arial MT"/>
              <a:cs typeface="Arial MT"/>
            </a:endParaRPr>
          </a:p>
          <a:p>
            <a:pPr marL="130810" indent="-118110">
              <a:lnSpc>
                <a:spcPct val="100000"/>
              </a:lnSpc>
              <a:spcBef>
                <a:spcPts val="1200"/>
              </a:spcBef>
              <a:buChar char="•"/>
              <a:tabLst>
                <a:tab pos="130810" algn="l"/>
              </a:tabLst>
            </a:pPr>
            <a:r>
              <a:rPr lang="en-US" sz="1600" spc="-10" dirty="0">
                <a:latin typeface="Arial MT"/>
                <a:cs typeface="Arial MT"/>
              </a:rPr>
              <a:t>Evaluation</a:t>
            </a:r>
            <a:r>
              <a:rPr lang="en-US" sz="1600" spc="-25" dirty="0">
                <a:latin typeface="Arial MT"/>
                <a:cs typeface="Arial MT"/>
              </a:rPr>
              <a:t> </a:t>
            </a:r>
            <a:r>
              <a:rPr lang="en-US" sz="1600" spc="-10" dirty="0">
                <a:latin typeface="Arial MT"/>
                <a:cs typeface="Arial MT"/>
              </a:rPr>
              <a:t>metrics:</a:t>
            </a:r>
            <a:endParaRPr lang="en-US" sz="1600" dirty="0">
              <a:latin typeface="Arial MT"/>
              <a:cs typeface="Arial MT"/>
            </a:endParaRPr>
          </a:p>
          <a:p>
            <a:pPr marL="584835" lvl="1" indent="-114935">
              <a:lnSpc>
                <a:spcPct val="100000"/>
              </a:lnSpc>
              <a:spcBef>
                <a:spcPts val="1200"/>
              </a:spcBef>
              <a:buChar char="-"/>
              <a:tabLst>
                <a:tab pos="584835" algn="l"/>
              </a:tabLst>
            </a:pPr>
            <a:r>
              <a:rPr lang="en-US" sz="1600" dirty="0">
                <a:latin typeface="Arial MT"/>
                <a:cs typeface="Arial MT"/>
              </a:rPr>
              <a:t>runtime</a:t>
            </a:r>
            <a:r>
              <a:rPr lang="en-US" sz="1600" spc="-90" dirty="0">
                <a:latin typeface="Arial MT"/>
                <a:cs typeface="Arial MT"/>
              </a:rPr>
              <a:t> </a:t>
            </a:r>
            <a:r>
              <a:rPr lang="en-US" sz="1600" spc="-10" dirty="0">
                <a:latin typeface="Arial MT"/>
                <a:cs typeface="Arial MT"/>
              </a:rPr>
              <a:t>speedup</a:t>
            </a:r>
            <a:endParaRPr lang="en-US" sz="1600" dirty="0">
              <a:latin typeface="Arial MT"/>
              <a:cs typeface="Arial MT"/>
            </a:endParaRPr>
          </a:p>
          <a:p>
            <a:pPr marL="574675" lvl="1" indent="-104775">
              <a:lnSpc>
                <a:spcPct val="100000"/>
              </a:lnSpc>
              <a:spcBef>
                <a:spcPts val="1200"/>
              </a:spcBef>
              <a:buChar char="-"/>
              <a:tabLst>
                <a:tab pos="574675" algn="l"/>
              </a:tabLst>
            </a:pPr>
            <a:r>
              <a:rPr lang="en-US" sz="1600" dirty="0">
                <a:latin typeface="Arial MT"/>
                <a:cs typeface="Arial MT"/>
              </a:rPr>
              <a:t>AIG</a:t>
            </a:r>
            <a:r>
              <a:rPr lang="en-US" sz="1600" spc="-40" dirty="0">
                <a:latin typeface="Arial MT"/>
                <a:cs typeface="Arial MT"/>
              </a:rPr>
              <a:t> </a:t>
            </a:r>
            <a:r>
              <a:rPr lang="en-US" sz="1600" dirty="0">
                <a:latin typeface="Arial MT"/>
                <a:cs typeface="Arial MT"/>
              </a:rPr>
              <a:t>area:</a:t>
            </a:r>
            <a:r>
              <a:rPr lang="en-US" sz="1600" spc="-35" dirty="0">
                <a:latin typeface="Arial MT"/>
                <a:cs typeface="Arial MT"/>
              </a:rPr>
              <a:t> </a:t>
            </a:r>
            <a:r>
              <a:rPr lang="en-US" sz="1600" dirty="0">
                <a:latin typeface="Arial MT"/>
                <a:cs typeface="Arial MT"/>
              </a:rPr>
              <a:t>number</a:t>
            </a:r>
            <a:r>
              <a:rPr lang="en-US" sz="1600" spc="-35" dirty="0">
                <a:latin typeface="Arial MT"/>
                <a:cs typeface="Arial MT"/>
              </a:rPr>
              <a:t> </a:t>
            </a:r>
            <a:r>
              <a:rPr lang="en-US" sz="1600" dirty="0">
                <a:latin typeface="Arial MT"/>
                <a:cs typeface="Arial MT"/>
              </a:rPr>
              <a:t>of</a:t>
            </a:r>
            <a:r>
              <a:rPr lang="en-US" sz="1600" spc="-35" dirty="0">
                <a:latin typeface="Arial MT"/>
                <a:cs typeface="Arial MT"/>
              </a:rPr>
              <a:t> </a:t>
            </a:r>
            <a:r>
              <a:rPr lang="en-US" sz="1600" spc="-10" dirty="0">
                <a:latin typeface="Arial MT"/>
                <a:cs typeface="Arial MT"/>
              </a:rPr>
              <a:t>nodes</a:t>
            </a:r>
            <a:endParaRPr lang="en-US" sz="1600" dirty="0">
              <a:latin typeface="Arial MT"/>
              <a:cs typeface="Arial MT"/>
            </a:endParaRPr>
          </a:p>
          <a:p>
            <a:pPr marL="574675" lvl="1" indent="-104775">
              <a:lnSpc>
                <a:spcPct val="100000"/>
              </a:lnSpc>
              <a:spcBef>
                <a:spcPts val="1200"/>
              </a:spcBef>
              <a:buChar char="-"/>
              <a:tabLst>
                <a:tab pos="574675" algn="l"/>
              </a:tabLst>
            </a:pPr>
            <a:r>
              <a:rPr lang="en-US" sz="1600" dirty="0">
                <a:latin typeface="Arial MT"/>
                <a:cs typeface="Arial MT"/>
              </a:rPr>
              <a:t>AIG</a:t>
            </a:r>
            <a:r>
              <a:rPr lang="en-US" sz="1600" spc="-40" dirty="0">
                <a:latin typeface="Arial MT"/>
                <a:cs typeface="Arial MT"/>
              </a:rPr>
              <a:t> </a:t>
            </a:r>
            <a:r>
              <a:rPr lang="en-US" sz="1600" dirty="0">
                <a:latin typeface="Arial MT"/>
                <a:cs typeface="Arial MT"/>
              </a:rPr>
              <a:t>delay:</a:t>
            </a:r>
            <a:r>
              <a:rPr lang="en-US" sz="1600" spc="-40" dirty="0">
                <a:latin typeface="Arial MT"/>
                <a:cs typeface="Arial MT"/>
              </a:rPr>
              <a:t> </a:t>
            </a:r>
            <a:r>
              <a:rPr lang="en-US" sz="1600" dirty="0">
                <a:latin typeface="Arial MT"/>
                <a:cs typeface="Arial MT"/>
              </a:rPr>
              <a:t>number</a:t>
            </a:r>
            <a:r>
              <a:rPr lang="en-US" sz="1600" spc="-35" dirty="0">
                <a:latin typeface="Arial MT"/>
                <a:cs typeface="Arial MT"/>
              </a:rPr>
              <a:t> </a:t>
            </a:r>
            <a:r>
              <a:rPr lang="en-US" sz="1600" dirty="0">
                <a:latin typeface="Arial MT"/>
                <a:cs typeface="Arial MT"/>
              </a:rPr>
              <a:t>of</a:t>
            </a:r>
            <a:r>
              <a:rPr lang="en-US" sz="1600" spc="-40" dirty="0">
                <a:latin typeface="Arial MT"/>
                <a:cs typeface="Arial MT"/>
              </a:rPr>
              <a:t> </a:t>
            </a:r>
            <a:r>
              <a:rPr lang="en-US" sz="1600" spc="-10" dirty="0">
                <a:latin typeface="Arial MT"/>
                <a:cs typeface="Arial MT"/>
              </a:rPr>
              <a:t>levels</a:t>
            </a:r>
            <a:endParaRPr lang="en-US" sz="16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Experimental</a:t>
            </a:r>
            <a:r>
              <a:rPr spc="5" dirty="0"/>
              <a:t> </a:t>
            </a:r>
            <a:r>
              <a:rPr dirty="0"/>
              <a:t>Results</a:t>
            </a:r>
            <a:r>
              <a:rPr spc="10" dirty="0"/>
              <a:t> </a:t>
            </a:r>
            <a:r>
              <a:rPr dirty="0"/>
              <a:t>-</a:t>
            </a:r>
            <a:r>
              <a:rPr spc="10" dirty="0"/>
              <a:t> </a:t>
            </a:r>
            <a:r>
              <a:rPr dirty="0"/>
              <a:t>Speedup</a:t>
            </a:r>
            <a:r>
              <a:rPr spc="10" dirty="0"/>
              <a:t> </a:t>
            </a:r>
            <a:r>
              <a:rPr dirty="0"/>
              <a:t>and</a:t>
            </a:r>
            <a:r>
              <a:rPr spc="10" dirty="0"/>
              <a:t> </a:t>
            </a:r>
            <a:r>
              <a:rPr spc="-25" dirty="0"/>
              <a:t>QoR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2837" y="1062975"/>
            <a:ext cx="8433519" cy="362147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Experimental</a:t>
            </a:r>
            <a:r>
              <a:rPr spc="-20" dirty="0"/>
              <a:t> </a:t>
            </a:r>
            <a:r>
              <a:rPr dirty="0"/>
              <a:t>Results</a:t>
            </a:r>
            <a:r>
              <a:rPr spc="-20" dirty="0"/>
              <a:t> </a:t>
            </a:r>
            <a:r>
              <a:rPr dirty="0"/>
              <a:t>-</a:t>
            </a:r>
            <a:r>
              <a:rPr spc="-15" dirty="0"/>
              <a:t> </a:t>
            </a:r>
            <a:r>
              <a:rPr spc="-10" dirty="0"/>
              <a:t>Scalability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040458"/>
            <a:ext cx="7466965" cy="65659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420"/>
              </a:spcBef>
              <a:buChar char="•"/>
              <a:tabLst>
                <a:tab pos="155575" algn="l"/>
              </a:tabLst>
            </a:pPr>
            <a:r>
              <a:rPr sz="1800" dirty="0">
                <a:latin typeface="Arial MT"/>
                <a:cs typeface="Arial MT"/>
              </a:rPr>
              <a:t>Speedup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increases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as</a:t>
            </a:r>
            <a:r>
              <a:rPr sz="1800" spc="-114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AIG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size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grows</a:t>
            </a:r>
            <a:endParaRPr sz="1800" dirty="0">
              <a:latin typeface="Arial MT"/>
              <a:cs typeface="Arial MT"/>
            </a:endParaRPr>
          </a:p>
          <a:p>
            <a:pPr marL="155575" indent="-142875">
              <a:lnSpc>
                <a:spcPct val="100000"/>
              </a:lnSpc>
              <a:spcBef>
                <a:spcPts val="325"/>
              </a:spcBef>
              <a:buChar char="•"/>
              <a:tabLst>
                <a:tab pos="155575" algn="l"/>
              </a:tabLst>
            </a:pPr>
            <a:r>
              <a:rPr sz="1800" dirty="0">
                <a:latin typeface="Arial MT"/>
                <a:cs typeface="Arial MT"/>
              </a:rPr>
              <a:t>GPU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acceleration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becomes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effective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1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AIGs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with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more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30K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nodes</a:t>
            </a:r>
            <a:endParaRPr sz="1800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54465" y="1781199"/>
            <a:ext cx="4272588" cy="320448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0" dirty="0"/>
              <a:t>Conclusion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7040245" cy="2171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100"/>
              </a:spcBef>
              <a:buChar char="•"/>
              <a:tabLst>
                <a:tab pos="155575" algn="l"/>
              </a:tabLst>
            </a:pPr>
            <a:r>
              <a:rPr sz="1800" dirty="0">
                <a:latin typeface="Arial MT"/>
                <a:cs typeface="Arial MT"/>
              </a:rPr>
              <a:t>Proposed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GPU-</a:t>
            </a:r>
            <a:r>
              <a:rPr sz="1800" dirty="0">
                <a:latin typeface="Arial MT"/>
                <a:cs typeface="Arial MT"/>
              </a:rPr>
              <a:t>parallel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algorithms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1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AIG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refactoring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balancing</a:t>
            </a:r>
            <a:endParaRPr sz="1800" dirty="0">
              <a:latin typeface="Arial MT"/>
              <a:cs typeface="Arial MT"/>
            </a:endParaRPr>
          </a:p>
          <a:p>
            <a:pPr marL="155575" indent="-142875">
              <a:lnSpc>
                <a:spcPct val="100000"/>
              </a:lnSpc>
              <a:spcBef>
                <a:spcPts val="1525"/>
              </a:spcBef>
              <a:buChar char="•"/>
              <a:tabLst>
                <a:tab pos="155575" algn="l"/>
              </a:tabLst>
            </a:pPr>
            <a:r>
              <a:rPr sz="1800" dirty="0">
                <a:latin typeface="Arial MT"/>
                <a:cs typeface="Arial MT"/>
              </a:rPr>
              <a:t>Integrated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with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GPU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rewriting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accelerate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full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resyn2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spc="-20" dirty="0">
                <a:latin typeface="Arial MT"/>
                <a:cs typeface="Arial MT"/>
              </a:rPr>
              <a:t>flow</a:t>
            </a:r>
            <a:endParaRPr sz="1800" dirty="0">
              <a:latin typeface="Arial MT"/>
              <a:cs typeface="Arial MT"/>
            </a:endParaRPr>
          </a:p>
          <a:p>
            <a:pPr marL="155575" indent="-142875">
              <a:lnSpc>
                <a:spcPct val="100000"/>
              </a:lnSpc>
              <a:spcBef>
                <a:spcPts val="1520"/>
              </a:spcBef>
              <a:buChar char="•"/>
              <a:tabLst>
                <a:tab pos="155575" algn="l"/>
              </a:tabLst>
            </a:pPr>
            <a:r>
              <a:rPr sz="1800" dirty="0">
                <a:latin typeface="Arial MT"/>
                <a:cs typeface="Arial MT"/>
              </a:rPr>
              <a:t>Full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GPU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resyn2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spc="-10" dirty="0">
                <a:latin typeface="Arial MT"/>
                <a:cs typeface="Arial MT"/>
              </a:rPr>
              <a:t>achieves:</a:t>
            </a:r>
            <a:endParaRPr sz="1800" dirty="0">
              <a:latin typeface="Arial MT"/>
              <a:cs typeface="Arial MT"/>
            </a:endParaRPr>
          </a:p>
          <a:p>
            <a:pPr marL="608330" lvl="1" indent="-138430">
              <a:lnSpc>
                <a:spcPct val="100000"/>
              </a:lnSpc>
              <a:spcBef>
                <a:spcPts val="1525"/>
              </a:spcBef>
              <a:buChar char="-"/>
              <a:tabLst>
                <a:tab pos="608330" algn="l"/>
              </a:tabLst>
            </a:pPr>
            <a:r>
              <a:rPr sz="1800" dirty="0">
                <a:latin typeface="Arial MT"/>
                <a:cs typeface="Arial MT"/>
              </a:rPr>
              <a:t>45.9×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speedup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over</a:t>
            </a:r>
            <a:r>
              <a:rPr sz="1800" spc="-114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ABC </a:t>
            </a:r>
            <a:r>
              <a:rPr sz="1800" b="1" spc="-10" dirty="0">
                <a:latin typeface="Arial"/>
                <a:cs typeface="Arial"/>
              </a:rPr>
              <a:t>resyn2</a:t>
            </a:r>
            <a:endParaRPr sz="1800" dirty="0">
              <a:latin typeface="Arial"/>
              <a:cs typeface="Arial"/>
            </a:endParaRPr>
          </a:p>
          <a:p>
            <a:pPr marL="608330" lvl="1" indent="-138430">
              <a:lnSpc>
                <a:spcPct val="100000"/>
              </a:lnSpc>
              <a:spcBef>
                <a:spcPts val="1525"/>
              </a:spcBef>
              <a:buChar char="-"/>
              <a:tabLst>
                <a:tab pos="608330" algn="l"/>
              </a:tabLst>
            </a:pPr>
            <a:r>
              <a:rPr sz="1800" dirty="0">
                <a:latin typeface="Arial MT"/>
                <a:cs typeface="Arial MT"/>
              </a:rPr>
              <a:t>comparable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QoR</a:t>
            </a:r>
            <a:endParaRPr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684</TotalTime>
  <Words>615</Words>
  <Application>Microsoft Office PowerPoint</Application>
  <PresentationFormat>如螢幕大小 (16:9)</PresentationFormat>
  <Paragraphs>126</Paragraphs>
  <Slides>18</Slides>
  <Notes>0</Notes>
  <HiddenSlides>2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22" baseType="lpstr">
      <vt:lpstr>Arial MT</vt:lpstr>
      <vt:lpstr>MS PGothic</vt:lpstr>
      <vt:lpstr>Arial</vt:lpstr>
      <vt:lpstr>Office Theme</vt:lpstr>
      <vt:lpstr>Rethinking AIG Resynthesis in Parallel</vt:lpstr>
      <vt:lpstr>Outline</vt:lpstr>
      <vt:lpstr>Introduction</vt:lpstr>
      <vt:lpstr>Motivation</vt:lpstr>
      <vt:lpstr>Preliminaries - AIG and Cone</vt:lpstr>
      <vt:lpstr>Background - AIG Refactoring</vt:lpstr>
      <vt:lpstr>Fanout-Free Cone and MFFC</vt:lpstr>
      <vt:lpstr>GPU-Parallel Refactoring</vt:lpstr>
      <vt:lpstr>Stage 1: Identify and Collapse Disjoint FFCs</vt:lpstr>
      <vt:lpstr>Stage 2: Parallel Resynthesis</vt:lpstr>
      <vt:lpstr>Stage 3: Parallel Replacement</vt:lpstr>
      <vt:lpstr>GPU-Parallel Hash-table</vt:lpstr>
      <vt:lpstr>Background - AIG Balancing</vt:lpstr>
      <vt:lpstr>GPU-Parallel Balancing</vt:lpstr>
      <vt:lpstr>Experimental Setup</vt:lpstr>
      <vt:lpstr>Experimental Results - Speedup and QoR</vt:lpstr>
      <vt:lpstr>Experimental Results - Scalability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未命名簡報</dc:title>
  <cp:lastModifiedBy>俊佑 賈</cp:lastModifiedBy>
  <cp:revision>3</cp:revision>
  <dcterms:created xsi:type="dcterms:W3CDTF">2026-05-31T17:10:17Z</dcterms:created>
  <dcterms:modified xsi:type="dcterms:W3CDTF">2026-06-01T04:36:16Z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2026-05-31T00:00:00Z</vt:filetime>
  </property>
  <property fmtid="{D5CDD505-2E9C-101B-9397-08002B2CF9AE}" pid="3" name="Creator">
    <vt:lpwstr>Google</vt:lpwstr>
  </property>
  <property fmtid="{D5CDD505-2E9C-101B-9397-08002B2CF9AE}" pid="4" name="LastSaved">
    <vt:filetime>2026-05-31T00:00:00Z</vt:filetime>
  </property>
</Properties>
</file>